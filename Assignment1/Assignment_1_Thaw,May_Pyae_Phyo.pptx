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26" autoAdjust="0"/>
    <p:restoredTop sz="94660"/>
  </p:normalViewPr>
  <p:slideViewPr>
    <p:cSldViewPr snapToGrid="0">
      <p:cViewPr varScale="1">
        <p:scale>
          <a:sx n="101" d="100"/>
          <a:sy n="101" d="100"/>
        </p:scale>
        <p:origin x="136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447FD9-8650-4775-8985-61092FAEEBDC}" type="datetimeFigureOut">
              <a:rPr lang="en-CA" smtClean="0"/>
              <a:t>2025-03-08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E652D2-C028-4BAD-BF70-F1FC33E62ABC}" type="slidenum">
              <a:rPr lang="en-CA" smtClean="0"/>
              <a:t>‹#›</a:t>
            </a:fld>
            <a:endParaRPr lang="en-CA"/>
          </a:p>
        </p:txBody>
      </p:sp>
    </p:spTree>
    <p:extLst>
      <p:ext uri="{BB962C8B-B14F-4D97-AF65-F5344CB8AC3E}">
        <p14:creationId xmlns:p14="http://schemas.microsoft.com/office/powerpoint/2010/main" val="970354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CE652D2-C028-4BAD-BF70-F1FC33E62ABC}" type="slidenum">
              <a:rPr lang="en-CA" smtClean="0"/>
              <a:t>1</a:t>
            </a:fld>
            <a:endParaRPr lang="en-CA"/>
          </a:p>
        </p:txBody>
      </p:sp>
    </p:spTree>
    <p:extLst>
      <p:ext uri="{BB962C8B-B14F-4D97-AF65-F5344CB8AC3E}">
        <p14:creationId xmlns:p14="http://schemas.microsoft.com/office/powerpoint/2010/main" val="4291223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CE652D2-C028-4BAD-BF70-F1FC33E62ABC}" type="slidenum">
              <a:rPr lang="en-CA" smtClean="0"/>
              <a:t>2</a:t>
            </a:fld>
            <a:endParaRPr lang="en-CA"/>
          </a:p>
        </p:txBody>
      </p:sp>
    </p:spTree>
    <p:extLst>
      <p:ext uri="{BB962C8B-B14F-4D97-AF65-F5344CB8AC3E}">
        <p14:creationId xmlns:p14="http://schemas.microsoft.com/office/powerpoint/2010/main" val="3360149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13692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80353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59555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64832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36838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3100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141738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42745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88005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79829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37626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3/8/2025</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762946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3/8/2025</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28447563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19" r:id="rId6"/>
    <p:sldLayoutId id="2147483714" r:id="rId7"/>
    <p:sldLayoutId id="2147483715" r:id="rId8"/>
    <p:sldLayoutId id="2147483716" r:id="rId9"/>
    <p:sldLayoutId id="2147483717" r:id="rId10"/>
    <p:sldLayoutId id="2147483718" r:id="rId11"/>
    <p:sldLayoutId id="2147483720"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FB6BA45-21D7-4ECD-971E-90FC03AE1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BB119F1D-1793-E812-3091-980DD2F8EE47}"/>
              </a:ext>
            </a:extLst>
          </p:cNvPr>
          <p:cNvPicPr>
            <a:picLocks noChangeAspect="1"/>
          </p:cNvPicPr>
          <p:nvPr/>
        </p:nvPicPr>
        <p:blipFill>
          <a:blip r:embed="rId3"/>
          <a:srcRect t="7091" b="2548"/>
          <a:stretch/>
        </p:blipFill>
        <p:spPr>
          <a:xfrm>
            <a:off x="20" y="10"/>
            <a:ext cx="12191980" cy="6857990"/>
          </a:xfrm>
          <a:prstGeom prst="rect">
            <a:avLst/>
          </a:prstGeom>
        </p:spPr>
      </p:pic>
      <p:sp useBgFill="1">
        <p:nvSpPr>
          <p:cNvPr id="19" name="Freeform: Shape 18">
            <a:extLst>
              <a:ext uri="{FF2B5EF4-FFF2-40B4-BE49-F238E27FC236}">
                <a16:creationId xmlns:a16="http://schemas.microsoft.com/office/drawing/2014/main" id="{EED8D03E-F375-4E67-B932-FF9B007BB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997530" y="1025355"/>
            <a:ext cx="3850317" cy="6538623"/>
          </a:xfrm>
          <a:custGeom>
            <a:avLst/>
            <a:gdLst>
              <a:gd name="connsiteX0" fmla="*/ 0 w 3850317"/>
              <a:gd name="connsiteY0" fmla="*/ 0 h 5978116"/>
              <a:gd name="connsiteX1" fmla="*/ 3850317 w 3850317"/>
              <a:gd name="connsiteY1" fmla="*/ 0 h 5978116"/>
              <a:gd name="connsiteX2" fmla="*/ 3840373 w 3850317"/>
              <a:gd name="connsiteY2" fmla="*/ 258313 h 5978116"/>
              <a:gd name="connsiteX3" fmla="*/ 3755448 w 3850317"/>
              <a:gd name="connsiteY3" fmla="*/ 1537847 h 5978116"/>
              <a:gd name="connsiteX4" fmla="*/ 3150490 w 3850317"/>
              <a:gd name="connsiteY4" fmla="*/ 3989537 h 5978116"/>
              <a:gd name="connsiteX5" fmla="*/ 3089544 w 3850317"/>
              <a:gd name="connsiteY5" fmla="*/ 3606200 h 5978116"/>
              <a:gd name="connsiteX6" fmla="*/ 2922635 w 3850317"/>
              <a:gd name="connsiteY6" fmla="*/ 4519351 h 5978116"/>
              <a:gd name="connsiteX7" fmla="*/ 2904628 w 3850317"/>
              <a:gd name="connsiteY7" fmla="*/ 4466023 h 5978116"/>
              <a:gd name="connsiteX8" fmla="*/ 2825329 w 3850317"/>
              <a:gd name="connsiteY8" fmla="*/ 4562983 h 5978116"/>
              <a:gd name="connsiteX9" fmla="*/ 2695127 w 3850317"/>
              <a:gd name="connsiteY9" fmla="*/ 4973329 h 5978116"/>
              <a:gd name="connsiteX10" fmla="*/ 2501208 w 3850317"/>
              <a:gd name="connsiteY10" fmla="*/ 4457366 h 5978116"/>
              <a:gd name="connsiteX11" fmla="*/ 2209291 w 3850317"/>
              <a:gd name="connsiteY11" fmla="*/ 5028388 h 5978116"/>
              <a:gd name="connsiteX12" fmla="*/ 2135532 w 3850317"/>
              <a:gd name="connsiteY12" fmla="*/ 5321344 h 5978116"/>
              <a:gd name="connsiteX13" fmla="*/ 2009139 w 3850317"/>
              <a:gd name="connsiteY13" fmla="*/ 4714655 h 5978116"/>
              <a:gd name="connsiteX14" fmla="*/ 1918759 w 3850317"/>
              <a:gd name="connsiteY14" fmla="*/ 4486454 h 5978116"/>
              <a:gd name="connsiteX15" fmla="*/ 1800676 w 3850317"/>
              <a:gd name="connsiteY15" fmla="*/ 4608346 h 5978116"/>
              <a:gd name="connsiteX16" fmla="*/ 1614721 w 3850317"/>
              <a:gd name="connsiteY16" fmla="*/ 5319612 h 5978116"/>
              <a:gd name="connsiteX17" fmla="*/ 1530921 w 3850317"/>
              <a:gd name="connsiteY17" fmla="*/ 5433540 h 5978116"/>
              <a:gd name="connsiteX18" fmla="*/ 1569705 w 3850317"/>
              <a:gd name="connsiteY18" fmla="*/ 4803650 h 5978116"/>
              <a:gd name="connsiteX19" fmla="*/ 1517416 w 3850317"/>
              <a:gd name="connsiteY19" fmla="*/ 4640204 h 5978116"/>
              <a:gd name="connsiteX20" fmla="*/ 1425997 w 3850317"/>
              <a:gd name="connsiteY20" fmla="*/ 4800187 h 5978116"/>
              <a:gd name="connsiteX21" fmla="*/ 1348083 w 3850317"/>
              <a:gd name="connsiteY21" fmla="*/ 5363245 h 5978116"/>
              <a:gd name="connsiteX22" fmla="*/ 1200566 w 3850317"/>
              <a:gd name="connsiteY22" fmla="*/ 5526691 h 5978116"/>
              <a:gd name="connsiteX23" fmla="*/ 1027770 w 3850317"/>
              <a:gd name="connsiteY23" fmla="*/ 5803718 h 5978116"/>
              <a:gd name="connsiteX24" fmla="*/ 892373 w 3850317"/>
              <a:gd name="connsiteY24" fmla="*/ 5604950 h 5978116"/>
              <a:gd name="connsiteX25" fmla="*/ 681487 w 3850317"/>
              <a:gd name="connsiteY25" fmla="*/ 5914528 h 5978116"/>
              <a:gd name="connsiteX26" fmla="*/ 414155 w 3850317"/>
              <a:gd name="connsiteY26" fmla="*/ 5817569 h 5978116"/>
              <a:gd name="connsiteX27" fmla="*/ 360135 w 3850317"/>
              <a:gd name="connsiteY27" fmla="*/ 5287062 h 5978116"/>
              <a:gd name="connsiteX28" fmla="*/ 281875 w 3850317"/>
              <a:gd name="connsiteY28" fmla="*/ 4677256 h 5978116"/>
              <a:gd name="connsiteX29" fmla="*/ 237897 w 3850317"/>
              <a:gd name="connsiteY29" fmla="*/ 4207696 h 5978116"/>
              <a:gd name="connsiteX30" fmla="*/ 145093 w 3850317"/>
              <a:gd name="connsiteY30" fmla="*/ 3878379 h 5978116"/>
              <a:gd name="connsiteX31" fmla="*/ 72373 w 3850317"/>
              <a:gd name="connsiteY31" fmla="*/ 2447189 h 5978116"/>
              <a:gd name="connsiteX32" fmla="*/ 0 w 3850317"/>
              <a:gd name="connsiteY32" fmla="*/ 0 h 597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850317" h="5978116">
                <a:moveTo>
                  <a:pt x="0" y="0"/>
                </a:moveTo>
                <a:lnTo>
                  <a:pt x="3850317" y="0"/>
                </a:lnTo>
                <a:lnTo>
                  <a:pt x="3840373" y="258313"/>
                </a:lnTo>
                <a:cubicBezTo>
                  <a:pt x="3816350" y="852957"/>
                  <a:pt x="3786959" y="1372106"/>
                  <a:pt x="3755448" y="1537847"/>
                </a:cubicBezTo>
                <a:cubicBezTo>
                  <a:pt x="3300085" y="3936555"/>
                  <a:pt x="3150490" y="3989537"/>
                  <a:pt x="3150490" y="3989537"/>
                </a:cubicBezTo>
                <a:cubicBezTo>
                  <a:pt x="3150490" y="3989537"/>
                  <a:pt x="3124172" y="3732940"/>
                  <a:pt x="3089544" y="3606200"/>
                </a:cubicBezTo>
                <a:cubicBezTo>
                  <a:pt x="3082618" y="3784537"/>
                  <a:pt x="2946529" y="4491302"/>
                  <a:pt x="2922635" y="4519351"/>
                </a:cubicBezTo>
                <a:cubicBezTo>
                  <a:pt x="2916749" y="4502729"/>
                  <a:pt x="2910515" y="4484030"/>
                  <a:pt x="2904628" y="4466023"/>
                </a:cubicBezTo>
                <a:cubicBezTo>
                  <a:pt x="2884890" y="4501344"/>
                  <a:pt x="2859958" y="4534241"/>
                  <a:pt x="2825329" y="4562983"/>
                </a:cubicBezTo>
                <a:cubicBezTo>
                  <a:pt x="2706208" y="4662020"/>
                  <a:pt x="2743260" y="4833430"/>
                  <a:pt x="2695127" y="4973329"/>
                </a:cubicBezTo>
                <a:cubicBezTo>
                  <a:pt x="2446495" y="4877408"/>
                  <a:pt x="2545186" y="4641589"/>
                  <a:pt x="2501208" y="4457366"/>
                </a:cubicBezTo>
                <a:cubicBezTo>
                  <a:pt x="2341225" y="4936277"/>
                  <a:pt x="2267120" y="4837932"/>
                  <a:pt x="2209291" y="5028388"/>
                </a:cubicBezTo>
                <a:cubicBezTo>
                  <a:pt x="2137610" y="5264900"/>
                  <a:pt x="2135532" y="5321344"/>
                  <a:pt x="2135532" y="5321344"/>
                </a:cubicBezTo>
                <a:cubicBezTo>
                  <a:pt x="2004983" y="5137467"/>
                  <a:pt x="2054502" y="4933506"/>
                  <a:pt x="2009139" y="4714655"/>
                </a:cubicBezTo>
                <a:cubicBezTo>
                  <a:pt x="1956503" y="4642281"/>
                  <a:pt x="1932264" y="4565753"/>
                  <a:pt x="1918759" y="4486454"/>
                </a:cubicBezTo>
                <a:cubicBezTo>
                  <a:pt x="1889671" y="4439359"/>
                  <a:pt x="1848463" y="4656479"/>
                  <a:pt x="1800676" y="4608346"/>
                </a:cubicBezTo>
                <a:cubicBezTo>
                  <a:pt x="1760507" y="4832391"/>
                  <a:pt x="1681208" y="5047087"/>
                  <a:pt x="1614721" y="5319612"/>
                </a:cubicBezTo>
                <a:cubicBezTo>
                  <a:pt x="1580786" y="5457780"/>
                  <a:pt x="1530574" y="5446352"/>
                  <a:pt x="1530921" y="5433540"/>
                </a:cubicBezTo>
                <a:cubicBezTo>
                  <a:pt x="1532998" y="5109418"/>
                  <a:pt x="1600177" y="5128464"/>
                  <a:pt x="1569705" y="4803650"/>
                </a:cubicBezTo>
                <a:cubicBezTo>
                  <a:pt x="1566242" y="4746167"/>
                  <a:pt x="1596022" y="4651631"/>
                  <a:pt x="1517416" y="4640204"/>
                </a:cubicBezTo>
                <a:cubicBezTo>
                  <a:pt x="1415608" y="4628430"/>
                  <a:pt x="1436385" y="4747898"/>
                  <a:pt x="1425997" y="4800187"/>
                </a:cubicBezTo>
                <a:cubicBezTo>
                  <a:pt x="1389291" y="5009342"/>
                  <a:pt x="1370938" y="5149241"/>
                  <a:pt x="1348083" y="5363245"/>
                </a:cubicBezTo>
                <a:cubicBezTo>
                  <a:pt x="1336655" y="5453625"/>
                  <a:pt x="1352931" y="5563743"/>
                  <a:pt x="1200566" y="5526691"/>
                </a:cubicBezTo>
                <a:cubicBezTo>
                  <a:pt x="1051664" y="5551623"/>
                  <a:pt x="1099105" y="5719570"/>
                  <a:pt x="1027770" y="5803718"/>
                </a:cubicBezTo>
                <a:cubicBezTo>
                  <a:pt x="945009" y="5758701"/>
                  <a:pt x="1003184" y="5640964"/>
                  <a:pt x="892373" y="5604950"/>
                </a:cubicBezTo>
                <a:cubicBezTo>
                  <a:pt x="925963" y="5772552"/>
                  <a:pt x="680448" y="5747619"/>
                  <a:pt x="681487" y="5914528"/>
                </a:cubicBezTo>
                <a:cubicBezTo>
                  <a:pt x="534662" y="6049233"/>
                  <a:pt x="467137" y="5947425"/>
                  <a:pt x="414155" y="5817569"/>
                </a:cubicBezTo>
                <a:cubicBezTo>
                  <a:pt x="348015" y="5648929"/>
                  <a:pt x="370177" y="5468515"/>
                  <a:pt x="360135" y="5287062"/>
                </a:cubicBezTo>
                <a:cubicBezTo>
                  <a:pt x="338319" y="5059207"/>
                  <a:pt x="278758" y="4907881"/>
                  <a:pt x="281875" y="4677256"/>
                </a:cubicBezTo>
                <a:cubicBezTo>
                  <a:pt x="237204" y="4527316"/>
                  <a:pt x="250017" y="4367332"/>
                  <a:pt x="237897" y="4207696"/>
                </a:cubicBezTo>
                <a:cubicBezTo>
                  <a:pt x="210194" y="3969452"/>
                  <a:pt x="176258" y="4119047"/>
                  <a:pt x="145093" y="3878379"/>
                </a:cubicBezTo>
                <a:cubicBezTo>
                  <a:pt x="114274" y="3641175"/>
                  <a:pt x="72720" y="2448920"/>
                  <a:pt x="72373" y="2447189"/>
                </a:cubicBezTo>
                <a:cubicBezTo>
                  <a:pt x="72720" y="2447189"/>
                  <a:pt x="12120" y="1233809"/>
                  <a:pt x="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F002FEB-4018-24D7-E697-E3189E50A652}"/>
              </a:ext>
            </a:extLst>
          </p:cNvPr>
          <p:cNvSpPr>
            <a:spLocks noGrp="1"/>
          </p:cNvSpPr>
          <p:nvPr>
            <p:ph type="ctrTitle"/>
          </p:nvPr>
        </p:nvSpPr>
        <p:spPr>
          <a:xfrm>
            <a:off x="7392473" y="2653048"/>
            <a:ext cx="4264139" cy="1839553"/>
          </a:xfrm>
        </p:spPr>
        <p:txBody>
          <a:bodyPr>
            <a:noAutofit/>
          </a:bodyPr>
          <a:lstStyle/>
          <a:p>
            <a:r>
              <a:rPr lang="en-CA" sz="4400" b="1" dirty="0"/>
              <a:t>CSIS-4260</a:t>
            </a:r>
            <a:br>
              <a:rPr lang="en-CA" sz="4400" b="1" dirty="0"/>
            </a:br>
            <a:r>
              <a:rPr lang="en-CA" sz="4400" b="1" dirty="0"/>
              <a:t>Assignment - 1</a:t>
            </a:r>
          </a:p>
        </p:txBody>
      </p:sp>
      <p:sp>
        <p:nvSpPr>
          <p:cNvPr id="3" name="Subtitle 2">
            <a:extLst>
              <a:ext uri="{FF2B5EF4-FFF2-40B4-BE49-F238E27FC236}">
                <a16:creationId xmlns:a16="http://schemas.microsoft.com/office/drawing/2014/main" id="{70ECCDE5-1D3E-EC2B-8CF0-8CAAEDB91C4C}"/>
              </a:ext>
            </a:extLst>
          </p:cNvPr>
          <p:cNvSpPr>
            <a:spLocks noGrp="1"/>
          </p:cNvSpPr>
          <p:nvPr>
            <p:ph type="subTitle" idx="1"/>
          </p:nvPr>
        </p:nvSpPr>
        <p:spPr>
          <a:xfrm>
            <a:off x="7887696" y="4553983"/>
            <a:ext cx="3665550" cy="775494"/>
          </a:xfrm>
        </p:spPr>
        <p:txBody>
          <a:bodyPr>
            <a:normAutofit fontScale="92500" lnSpcReduction="20000"/>
          </a:bodyPr>
          <a:lstStyle/>
          <a:p>
            <a:pPr algn="r"/>
            <a:r>
              <a:rPr lang="en-CA" dirty="0"/>
              <a:t>Thaw, May Pyae Phyo</a:t>
            </a:r>
          </a:p>
          <a:p>
            <a:pPr algn="r"/>
            <a:r>
              <a:rPr lang="en-CA" sz="2200" i="1" dirty="0" err="1"/>
              <a:t>St_ID</a:t>
            </a:r>
            <a:r>
              <a:rPr lang="en-CA" sz="2200" i="1" dirty="0"/>
              <a:t>: 300367691</a:t>
            </a:r>
          </a:p>
        </p:txBody>
      </p:sp>
    </p:spTree>
    <p:extLst>
      <p:ext uri="{BB962C8B-B14F-4D97-AF65-F5344CB8AC3E}">
        <p14:creationId xmlns:p14="http://schemas.microsoft.com/office/powerpoint/2010/main" val="183093744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A3AFC-2766-753E-66D0-0AB56B289ADF}"/>
              </a:ext>
            </a:extLst>
          </p:cNvPr>
          <p:cNvSpPr>
            <a:spLocks noGrp="1"/>
          </p:cNvSpPr>
          <p:nvPr>
            <p:ph type="title"/>
          </p:nvPr>
        </p:nvSpPr>
        <p:spPr>
          <a:xfrm>
            <a:off x="838200" y="365126"/>
            <a:ext cx="10515600" cy="1012914"/>
          </a:xfrm>
        </p:spPr>
        <p:txBody>
          <a:bodyPr>
            <a:normAutofit fontScale="90000"/>
          </a:bodyPr>
          <a:lstStyle/>
          <a:p>
            <a:r>
              <a:rPr lang="en-CA" b="1" dirty="0"/>
              <a:t>Abstract of Assignment -1(Storing &amp; Retrieving) </a:t>
            </a:r>
          </a:p>
        </p:txBody>
      </p:sp>
      <p:sp>
        <p:nvSpPr>
          <p:cNvPr id="3" name="Content Placeholder 2">
            <a:extLst>
              <a:ext uri="{FF2B5EF4-FFF2-40B4-BE49-F238E27FC236}">
                <a16:creationId xmlns:a16="http://schemas.microsoft.com/office/drawing/2014/main" id="{3F59D650-C98E-5023-6B8F-C151105138E5}"/>
              </a:ext>
            </a:extLst>
          </p:cNvPr>
          <p:cNvSpPr>
            <a:spLocks noGrp="1"/>
          </p:cNvSpPr>
          <p:nvPr>
            <p:ph idx="1"/>
          </p:nvPr>
        </p:nvSpPr>
        <p:spPr>
          <a:xfrm>
            <a:off x="838200" y="2752725"/>
            <a:ext cx="3163529" cy="3960000"/>
          </a:xfrm>
        </p:spPr>
        <p:style>
          <a:lnRef idx="2">
            <a:schemeClr val="accent5"/>
          </a:lnRef>
          <a:fillRef idx="1">
            <a:schemeClr val="lt1"/>
          </a:fillRef>
          <a:effectRef idx="0">
            <a:schemeClr val="accent5"/>
          </a:effectRef>
          <a:fontRef idx="minor">
            <a:schemeClr val="dk1"/>
          </a:fontRef>
        </p:style>
        <p:txBody>
          <a:bodyPr>
            <a:noAutofit/>
          </a:bodyPr>
          <a:lstStyle/>
          <a:p>
            <a:pPr marL="0" indent="0" algn="just">
              <a:buNone/>
            </a:pPr>
            <a:r>
              <a:rPr lang="en-CA" sz="1400" dirty="0">
                <a:latin typeface="Segoe UI" panose="020B0502040204020203" pitchFamily="34" charset="0"/>
                <a:cs typeface="Segoe UI" panose="020B0502040204020203" pitchFamily="34" charset="0"/>
              </a:rPr>
              <a:t>The goal is to determine the most efficient way to store and retrieve data. The provided CSV Dataset is 29MB. Other file methods as parquet is used for compression and offer better performance in terms of Storage efficiency and retrieval speed.</a:t>
            </a:r>
          </a:p>
          <a:p>
            <a:pPr marL="0" indent="0" algn="just">
              <a:spcBef>
                <a:spcPts val="0"/>
              </a:spcBef>
              <a:buNone/>
            </a:pPr>
            <a:endParaRPr lang="en-CA" sz="1400" dirty="0">
              <a:latin typeface="Segoe UI" panose="020B0502040204020203" pitchFamily="34" charset="0"/>
              <a:cs typeface="Segoe UI" panose="020B0502040204020203" pitchFamily="34" charset="0"/>
            </a:endParaRPr>
          </a:p>
          <a:p>
            <a:pPr>
              <a:spcBef>
                <a:spcPts val="0"/>
              </a:spcBef>
            </a:pPr>
            <a:r>
              <a:rPr lang="en-US" sz="1400" b="1" dirty="0">
                <a:latin typeface="Segoe UI" panose="020B0502040204020203" pitchFamily="34" charset="0"/>
                <a:cs typeface="Segoe UI" panose="020B0502040204020203" pitchFamily="34" charset="0"/>
              </a:rPr>
              <a:t>Research Component:</a:t>
            </a:r>
            <a:r>
              <a:rPr lang="en-US" sz="1400" dirty="0">
                <a:latin typeface="Segoe UI" panose="020B0502040204020203" pitchFamily="34" charset="0"/>
                <a:cs typeface="Segoe UI" panose="020B0502040204020203" pitchFamily="34" charset="0"/>
              </a:rPr>
              <a:t> Compare CSV vs. Parquet, considering file size, read/write speed, and compatibility.</a:t>
            </a:r>
          </a:p>
          <a:p>
            <a:r>
              <a:rPr lang="en-US" sz="1400" b="1" dirty="0">
                <a:latin typeface="Segoe UI" panose="020B0502040204020203" pitchFamily="34" charset="0"/>
                <a:cs typeface="Segoe UI" panose="020B0502040204020203" pitchFamily="34" charset="0"/>
              </a:rPr>
              <a:t>Benchmarking Component: </a:t>
            </a:r>
            <a:r>
              <a:rPr lang="en-US" sz="1400" dirty="0">
                <a:latin typeface="Segoe UI" panose="020B0502040204020203" pitchFamily="34" charset="0"/>
                <a:cs typeface="Segoe UI" panose="020B0502040204020203" pitchFamily="34" charset="0"/>
              </a:rPr>
              <a:t>Measure performance at 1x (original size), 10x, and 100x scales to justify the best storage format.</a:t>
            </a:r>
            <a:endParaRPr lang="en-CA" sz="1400" dirty="0">
              <a:latin typeface="Segoe UI" panose="020B0502040204020203" pitchFamily="34" charset="0"/>
              <a:cs typeface="Segoe UI" panose="020B0502040204020203" pitchFamily="34" charset="0"/>
            </a:endParaRPr>
          </a:p>
        </p:txBody>
      </p:sp>
      <p:sp>
        <p:nvSpPr>
          <p:cNvPr id="4" name="Content Placeholder 2">
            <a:extLst>
              <a:ext uri="{FF2B5EF4-FFF2-40B4-BE49-F238E27FC236}">
                <a16:creationId xmlns:a16="http://schemas.microsoft.com/office/drawing/2014/main" id="{6F6CA894-C923-8A13-FB2F-F575E495C85E}"/>
              </a:ext>
            </a:extLst>
          </p:cNvPr>
          <p:cNvSpPr txBox="1">
            <a:spLocks/>
          </p:cNvSpPr>
          <p:nvPr/>
        </p:nvSpPr>
        <p:spPr>
          <a:xfrm>
            <a:off x="4532671" y="2752725"/>
            <a:ext cx="3163529" cy="3960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CA" sz="1400" dirty="0"/>
              <a:t>In This section, Comparison of </a:t>
            </a:r>
            <a:r>
              <a:rPr lang="en-CA" sz="1400" dirty="0" err="1"/>
              <a:t>dataframe</a:t>
            </a:r>
            <a:r>
              <a:rPr lang="en-CA" sz="1400" dirty="0"/>
              <a:t> performance and predictive modeling are mainly focused for the research.</a:t>
            </a:r>
          </a:p>
          <a:p>
            <a:pPr marL="0" indent="0">
              <a:spcBef>
                <a:spcPts val="0"/>
              </a:spcBef>
              <a:buNone/>
            </a:pPr>
            <a:endParaRPr lang="en-CA" sz="1400" dirty="0"/>
          </a:p>
          <a:p>
            <a:pPr marL="0" indent="0">
              <a:spcBef>
                <a:spcPts val="0"/>
              </a:spcBef>
              <a:buNone/>
            </a:pPr>
            <a:r>
              <a:rPr lang="en-US" sz="1400" b="1" dirty="0"/>
              <a:t>Comparison of Pandas vs. Polars:</a:t>
            </a:r>
            <a:r>
              <a:rPr lang="en-US" sz="1400" dirty="0"/>
              <a:t> Evaluate both libraries in terms of speed and efficiency for handling large datasets.</a:t>
            </a:r>
          </a:p>
          <a:p>
            <a:pPr marL="0" indent="0">
              <a:spcBef>
                <a:spcPts val="600"/>
              </a:spcBef>
              <a:buNone/>
            </a:pPr>
            <a:r>
              <a:rPr lang="en-US" sz="1400" b="1" dirty="0"/>
              <a:t>Feature Engineering:</a:t>
            </a:r>
            <a:r>
              <a:rPr lang="en-US" sz="1400" dirty="0"/>
              <a:t> Enhance the dataset by adding at least four technical indicators (e.g., Moving Average, RSI, Bollinger Bands) to improve predictions.</a:t>
            </a:r>
          </a:p>
          <a:p>
            <a:pPr marL="0" indent="0">
              <a:spcBef>
                <a:spcPts val="600"/>
              </a:spcBef>
              <a:buNone/>
            </a:pPr>
            <a:r>
              <a:rPr lang="en-US" sz="1400" b="1" dirty="0"/>
              <a:t>Predictive Modeling:</a:t>
            </a:r>
          </a:p>
          <a:p>
            <a:pPr>
              <a:spcBef>
                <a:spcPts val="600"/>
              </a:spcBef>
            </a:pPr>
            <a:r>
              <a:rPr lang="en-US" sz="1400" dirty="0"/>
              <a:t>Linear Regression &amp; Random Forest Regressor for Predictions.</a:t>
            </a:r>
          </a:p>
        </p:txBody>
      </p:sp>
      <p:sp>
        <p:nvSpPr>
          <p:cNvPr id="6" name="Content Placeholder 2">
            <a:extLst>
              <a:ext uri="{FF2B5EF4-FFF2-40B4-BE49-F238E27FC236}">
                <a16:creationId xmlns:a16="http://schemas.microsoft.com/office/drawing/2014/main" id="{485F87EF-5CDF-BF58-E992-AD0915EB54D4}"/>
              </a:ext>
            </a:extLst>
          </p:cNvPr>
          <p:cNvSpPr txBox="1">
            <a:spLocks/>
          </p:cNvSpPr>
          <p:nvPr/>
        </p:nvSpPr>
        <p:spPr>
          <a:xfrm>
            <a:off x="8227143" y="2752724"/>
            <a:ext cx="3163529" cy="3960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The final part involves creating an interactive dashboard to present benchmarking results and prediction models.</a:t>
            </a:r>
          </a:p>
          <a:p>
            <a:pPr marL="0" indent="0">
              <a:buNone/>
            </a:pPr>
            <a:r>
              <a:rPr lang="en-US" sz="1400" b="1" dirty="0"/>
              <a:t>Research Dashboarding Tools</a:t>
            </a:r>
            <a:r>
              <a:rPr lang="en-US" sz="1400" dirty="0"/>
              <a:t>:</a:t>
            </a:r>
          </a:p>
          <a:p>
            <a:r>
              <a:rPr lang="en-US" sz="1400" dirty="0"/>
              <a:t>Compare </a:t>
            </a:r>
            <a:r>
              <a:rPr lang="en-US" sz="1400" dirty="0" err="1"/>
              <a:t>Streamlit</a:t>
            </a:r>
            <a:r>
              <a:rPr lang="en-US" sz="1400" dirty="0"/>
              <a:t>, Dash, and Reflex (or another approved framework).</a:t>
            </a:r>
          </a:p>
          <a:p>
            <a:pPr marL="0" indent="0">
              <a:buNone/>
            </a:pPr>
            <a:r>
              <a:rPr lang="en-US" sz="1400" b="1" dirty="0"/>
              <a:t>Dashboard Sections:</a:t>
            </a:r>
          </a:p>
          <a:p>
            <a:r>
              <a:rPr lang="en-US" sz="1400" dirty="0"/>
              <a:t>Section A: Display benchmark results from Part 1 and Part 2 across different dataset scales.</a:t>
            </a:r>
          </a:p>
          <a:p>
            <a:r>
              <a:rPr lang="en-US" sz="1400" dirty="0"/>
              <a:t>Section B: Allow users to select/search for a company ticker and visualize price predictions dynamically.</a:t>
            </a:r>
            <a:endParaRPr lang="en-CA" sz="1400" dirty="0"/>
          </a:p>
        </p:txBody>
      </p:sp>
      <p:sp>
        <p:nvSpPr>
          <p:cNvPr id="7" name="Rectangle: Rounded Corners 6">
            <a:extLst>
              <a:ext uri="{FF2B5EF4-FFF2-40B4-BE49-F238E27FC236}">
                <a16:creationId xmlns:a16="http://schemas.microsoft.com/office/drawing/2014/main" id="{0BA6DFC8-5D9D-8F77-5141-55D9C696221A}"/>
              </a:ext>
            </a:extLst>
          </p:cNvPr>
          <p:cNvSpPr/>
          <p:nvPr/>
        </p:nvSpPr>
        <p:spPr>
          <a:xfrm>
            <a:off x="806406" y="1597818"/>
            <a:ext cx="3227116" cy="809625"/>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CA" b="1" dirty="0"/>
              <a:t>Storing and Retrieving Data</a:t>
            </a:r>
          </a:p>
        </p:txBody>
      </p:sp>
      <p:sp>
        <p:nvSpPr>
          <p:cNvPr id="8" name="Rectangle: Rounded Corners 7">
            <a:extLst>
              <a:ext uri="{FF2B5EF4-FFF2-40B4-BE49-F238E27FC236}">
                <a16:creationId xmlns:a16="http://schemas.microsoft.com/office/drawing/2014/main" id="{AA8F9B8F-B6DD-C3A0-BADA-E6ABFF9A9EE6}"/>
              </a:ext>
            </a:extLst>
          </p:cNvPr>
          <p:cNvSpPr/>
          <p:nvPr/>
        </p:nvSpPr>
        <p:spPr>
          <a:xfrm>
            <a:off x="4482441" y="1597818"/>
            <a:ext cx="3227116" cy="809625"/>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CA" b="1" dirty="0"/>
              <a:t>Manipulation, Analysis and  Modeling</a:t>
            </a:r>
          </a:p>
        </p:txBody>
      </p:sp>
      <p:sp>
        <p:nvSpPr>
          <p:cNvPr id="9" name="Rectangle: Rounded Corners 8">
            <a:extLst>
              <a:ext uri="{FF2B5EF4-FFF2-40B4-BE49-F238E27FC236}">
                <a16:creationId xmlns:a16="http://schemas.microsoft.com/office/drawing/2014/main" id="{D5D14BDF-60E1-2F47-E86B-E1A076A30CBC}"/>
              </a:ext>
            </a:extLst>
          </p:cNvPr>
          <p:cNvSpPr/>
          <p:nvPr/>
        </p:nvSpPr>
        <p:spPr>
          <a:xfrm>
            <a:off x="8195349" y="1597818"/>
            <a:ext cx="3227116" cy="809625"/>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CA" b="1" dirty="0"/>
              <a:t>Building a visual Dashboard</a:t>
            </a:r>
          </a:p>
        </p:txBody>
      </p:sp>
    </p:spTree>
    <p:extLst>
      <p:ext uri="{BB962C8B-B14F-4D97-AF65-F5344CB8AC3E}">
        <p14:creationId xmlns:p14="http://schemas.microsoft.com/office/powerpoint/2010/main" val="402439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11D2D6-7D9C-4E50-6FE4-EBA5192754F1}"/>
              </a:ext>
            </a:extLst>
          </p:cNvPr>
          <p:cNvSpPr>
            <a:spLocks noGrp="1"/>
          </p:cNvSpPr>
          <p:nvPr>
            <p:ph type="title"/>
          </p:nvPr>
        </p:nvSpPr>
        <p:spPr>
          <a:xfrm>
            <a:off x="838200" y="365125"/>
            <a:ext cx="10515600" cy="1139825"/>
          </a:xfrm>
        </p:spPr>
        <p:txBody>
          <a:bodyPr/>
          <a:lstStyle/>
          <a:p>
            <a:r>
              <a:rPr lang="en-CA" b="1" dirty="0"/>
              <a:t>Assignment -1 : Part -1 </a:t>
            </a:r>
          </a:p>
        </p:txBody>
      </p:sp>
      <p:pic>
        <p:nvPicPr>
          <p:cNvPr id="14" name="Content Placeholder 13">
            <a:extLst>
              <a:ext uri="{FF2B5EF4-FFF2-40B4-BE49-F238E27FC236}">
                <a16:creationId xmlns:a16="http://schemas.microsoft.com/office/drawing/2014/main" id="{61822D9B-D65C-500D-A2EB-6CDC2ABB476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l="1170" r="48978" b="13974"/>
          <a:stretch/>
        </p:blipFill>
        <p:spPr>
          <a:xfrm>
            <a:off x="1143872" y="1762674"/>
            <a:ext cx="3783978" cy="1940764"/>
          </a:xfrm>
        </p:spPr>
      </p:pic>
      <p:pic>
        <p:nvPicPr>
          <p:cNvPr id="16" name="Content Placeholder 15" descr="A computer screen with white text&#10;&#10;AI-generated content may be incorrect.">
            <a:extLst>
              <a:ext uri="{FF2B5EF4-FFF2-40B4-BE49-F238E27FC236}">
                <a16:creationId xmlns:a16="http://schemas.microsoft.com/office/drawing/2014/main" id="{6AAC512B-9D7A-2190-9709-3221A494DAB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r="46736"/>
          <a:stretch/>
        </p:blipFill>
        <p:spPr>
          <a:xfrm>
            <a:off x="6237193" y="1404464"/>
            <a:ext cx="3585864" cy="2113945"/>
          </a:xfrm>
        </p:spPr>
      </p:pic>
      <p:sp>
        <p:nvSpPr>
          <p:cNvPr id="17" name="TextBox 16">
            <a:extLst>
              <a:ext uri="{FF2B5EF4-FFF2-40B4-BE49-F238E27FC236}">
                <a16:creationId xmlns:a16="http://schemas.microsoft.com/office/drawing/2014/main" id="{7FE1E5C4-F8D9-B78C-A8E1-32943F5FA820}"/>
              </a:ext>
            </a:extLst>
          </p:cNvPr>
          <p:cNvSpPr txBox="1"/>
          <p:nvPr/>
        </p:nvSpPr>
        <p:spPr>
          <a:xfrm>
            <a:off x="1169893" y="3990975"/>
            <a:ext cx="3585864" cy="646331"/>
          </a:xfrm>
          <a:prstGeom prst="rect">
            <a:avLst/>
          </a:prstGeom>
          <a:noFill/>
        </p:spPr>
        <p:txBody>
          <a:bodyPr wrap="square" rtlCol="0">
            <a:spAutoFit/>
          </a:bodyPr>
          <a:lstStyle/>
          <a:p>
            <a:pPr algn="ctr"/>
            <a:r>
              <a:rPr lang="en-CA" b="1" dirty="0">
                <a:latin typeface="Segoe UI" panose="020B0502040204020203" pitchFamily="34" charset="0"/>
                <a:cs typeface="Segoe UI" panose="020B0502040204020203" pitchFamily="34" charset="0"/>
              </a:rPr>
              <a:t>File Sizes Comparison after successfully created parquet files</a:t>
            </a:r>
          </a:p>
        </p:txBody>
      </p:sp>
      <p:sp>
        <p:nvSpPr>
          <p:cNvPr id="18" name="TextBox 17">
            <a:extLst>
              <a:ext uri="{FF2B5EF4-FFF2-40B4-BE49-F238E27FC236}">
                <a16:creationId xmlns:a16="http://schemas.microsoft.com/office/drawing/2014/main" id="{3BD41B43-0E19-6A7E-6A39-7056367450C3}"/>
              </a:ext>
            </a:extLst>
          </p:cNvPr>
          <p:cNvSpPr txBox="1"/>
          <p:nvPr/>
        </p:nvSpPr>
        <p:spPr>
          <a:xfrm>
            <a:off x="10267950" y="1861273"/>
            <a:ext cx="1733550" cy="1200329"/>
          </a:xfrm>
          <a:prstGeom prst="rect">
            <a:avLst/>
          </a:prstGeom>
          <a:noFill/>
        </p:spPr>
        <p:txBody>
          <a:bodyPr wrap="square" rtlCol="0">
            <a:spAutoFit/>
          </a:bodyPr>
          <a:lstStyle/>
          <a:p>
            <a:pPr algn="ctr"/>
            <a:r>
              <a:rPr lang="en-CA" b="1" dirty="0">
                <a:latin typeface="Segoe UI" panose="020B0502040204020203" pitchFamily="34" charset="0"/>
                <a:cs typeface="Segoe UI" panose="020B0502040204020203" pitchFamily="34" charset="0"/>
              </a:rPr>
              <a:t>Read Vs Write execution time comparisons</a:t>
            </a:r>
          </a:p>
        </p:txBody>
      </p:sp>
      <p:graphicFrame>
        <p:nvGraphicFramePr>
          <p:cNvPr id="21" name="Table 20">
            <a:extLst>
              <a:ext uri="{FF2B5EF4-FFF2-40B4-BE49-F238E27FC236}">
                <a16:creationId xmlns:a16="http://schemas.microsoft.com/office/drawing/2014/main" id="{7601D4E2-370C-0292-79BE-A84CB4F1EDAB}"/>
              </a:ext>
            </a:extLst>
          </p:cNvPr>
          <p:cNvGraphicFramePr>
            <a:graphicFrameLocks noGrp="1"/>
          </p:cNvGraphicFramePr>
          <p:nvPr>
            <p:extLst>
              <p:ext uri="{D42A27DB-BD31-4B8C-83A1-F6EECF244321}">
                <p14:modId xmlns:p14="http://schemas.microsoft.com/office/powerpoint/2010/main" val="2881561276"/>
              </p:ext>
            </p:extLst>
          </p:nvPr>
        </p:nvGraphicFramePr>
        <p:xfrm>
          <a:off x="962025" y="5276713"/>
          <a:ext cx="3886204" cy="822960"/>
        </p:xfrm>
        <a:graphic>
          <a:graphicData uri="http://schemas.openxmlformats.org/drawingml/2006/table">
            <a:tbl>
              <a:tblPr firstRow="1" bandRow="1">
                <a:tableStyleId>{7E9639D4-E3E2-4D34-9284-5A2195B3D0D7}</a:tableStyleId>
              </a:tblPr>
              <a:tblGrid>
                <a:gridCol w="819150">
                  <a:extLst>
                    <a:ext uri="{9D8B030D-6E8A-4147-A177-3AD203B41FA5}">
                      <a16:colId xmlns:a16="http://schemas.microsoft.com/office/drawing/2014/main" val="4221306925"/>
                    </a:ext>
                  </a:extLst>
                </a:gridCol>
                <a:gridCol w="933450">
                  <a:extLst>
                    <a:ext uri="{9D8B030D-6E8A-4147-A177-3AD203B41FA5}">
                      <a16:colId xmlns:a16="http://schemas.microsoft.com/office/drawing/2014/main" val="2144525385"/>
                    </a:ext>
                  </a:extLst>
                </a:gridCol>
                <a:gridCol w="981075">
                  <a:extLst>
                    <a:ext uri="{9D8B030D-6E8A-4147-A177-3AD203B41FA5}">
                      <a16:colId xmlns:a16="http://schemas.microsoft.com/office/drawing/2014/main" val="1528408529"/>
                    </a:ext>
                  </a:extLst>
                </a:gridCol>
                <a:gridCol w="1152529">
                  <a:extLst>
                    <a:ext uri="{9D8B030D-6E8A-4147-A177-3AD203B41FA5}">
                      <a16:colId xmlns:a16="http://schemas.microsoft.com/office/drawing/2014/main" val="3587782378"/>
                    </a:ext>
                  </a:extLst>
                </a:gridCol>
              </a:tblGrid>
              <a:tr h="0">
                <a:tc>
                  <a:txBody>
                    <a:bodyPr/>
                    <a:lstStyle/>
                    <a:p>
                      <a:endParaRPr lang="en-CA" sz="1200" dirty="0">
                        <a:latin typeface="Segoe UI" panose="020B0502040204020203" pitchFamily="34" charset="0"/>
                        <a:cs typeface="Segoe UI" panose="020B0502040204020203" pitchFamily="34" charset="0"/>
                      </a:endParaRPr>
                    </a:p>
                  </a:txBody>
                  <a:tcPr/>
                </a:tc>
                <a:tc>
                  <a:txBody>
                    <a:bodyPr/>
                    <a:lstStyle/>
                    <a:p>
                      <a:r>
                        <a:rPr lang="en-CA" sz="1200" dirty="0">
                          <a:latin typeface="Segoe UI" panose="020B0502040204020203" pitchFamily="34" charset="0"/>
                          <a:cs typeface="Segoe UI" panose="020B0502040204020203" pitchFamily="34" charset="0"/>
                        </a:rPr>
                        <a:t>5yr_1x</a:t>
                      </a:r>
                    </a:p>
                  </a:txBody>
                  <a:tcPr/>
                </a:tc>
                <a:tc>
                  <a:txBody>
                    <a:bodyPr/>
                    <a:lstStyle/>
                    <a:p>
                      <a:r>
                        <a:rPr lang="en-CA" sz="1200" dirty="0">
                          <a:latin typeface="Segoe UI" panose="020B0502040204020203" pitchFamily="34" charset="0"/>
                          <a:cs typeface="Segoe UI" panose="020B0502040204020203" pitchFamily="34" charset="0"/>
                        </a:rPr>
                        <a:t>5yr_10x</a:t>
                      </a:r>
                    </a:p>
                  </a:txBody>
                  <a:tcPr/>
                </a:tc>
                <a:tc>
                  <a:txBody>
                    <a:bodyPr/>
                    <a:lstStyle/>
                    <a:p>
                      <a:pPr algn="ctr"/>
                      <a:r>
                        <a:rPr lang="en-CA" sz="1200" dirty="0">
                          <a:latin typeface="Segoe UI" panose="020B0502040204020203" pitchFamily="34" charset="0"/>
                          <a:cs typeface="Segoe UI" panose="020B0502040204020203" pitchFamily="34" charset="0"/>
                        </a:rPr>
                        <a:t>5yr_100x</a:t>
                      </a:r>
                    </a:p>
                  </a:txBody>
                  <a:tcPr/>
                </a:tc>
                <a:extLst>
                  <a:ext uri="{0D108BD9-81ED-4DB2-BD59-A6C34878D82A}">
                    <a16:rowId xmlns:a16="http://schemas.microsoft.com/office/drawing/2014/main" val="3180480488"/>
                  </a:ext>
                </a:extLst>
              </a:tr>
              <a:tr h="268742">
                <a:tc>
                  <a:txBody>
                    <a:bodyPr/>
                    <a:lstStyle/>
                    <a:p>
                      <a:r>
                        <a:rPr lang="en-CA" sz="1200" dirty="0">
                          <a:latin typeface="Segoe UI" panose="020B0502040204020203" pitchFamily="34" charset="0"/>
                          <a:cs typeface="Segoe UI" panose="020B0502040204020203" pitchFamily="34" charset="0"/>
                        </a:rPr>
                        <a:t>CSV</a:t>
                      </a:r>
                    </a:p>
                  </a:txBody>
                  <a:tcPr/>
                </a:tc>
                <a:tc>
                  <a:txBody>
                    <a:bodyPr/>
                    <a:lstStyle/>
                    <a:p>
                      <a:r>
                        <a:rPr lang="en-CA" sz="1200" dirty="0">
                          <a:latin typeface="Segoe UI" panose="020B0502040204020203" pitchFamily="34" charset="0"/>
                          <a:cs typeface="Segoe UI" panose="020B0502040204020203" pitchFamily="34" charset="0"/>
                        </a:rPr>
                        <a:t>28.80 MB</a:t>
                      </a:r>
                    </a:p>
                  </a:txBody>
                  <a:tcPr/>
                </a:tc>
                <a:tc>
                  <a:txBody>
                    <a:bodyPr/>
                    <a:lstStyle/>
                    <a:p>
                      <a:r>
                        <a:rPr lang="en-CA" sz="1200" dirty="0">
                          <a:latin typeface="Segoe UI" panose="020B0502040204020203" pitchFamily="34" charset="0"/>
                          <a:cs typeface="Segoe UI" panose="020B0502040204020203" pitchFamily="34" charset="0"/>
                        </a:rPr>
                        <a:t>288.01 MB</a:t>
                      </a:r>
                    </a:p>
                  </a:txBody>
                  <a:tcPr/>
                </a:tc>
                <a:tc>
                  <a:txBody>
                    <a:bodyPr/>
                    <a:lstStyle/>
                    <a:p>
                      <a:r>
                        <a:rPr lang="en-CA" sz="1200" dirty="0">
                          <a:latin typeface="Segoe UI" panose="020B0502040204020203" pitchFamily="34" charset="0"/>
                          <a:cs typeface="Segoe UI" panose="020B0502040204020203" pitchFamily="34" charset="0"/>
                        </a:rPr>
                        <a:t>2880.05 MB</a:t>
                      </a:r>
                    </a:p>
                  </a:txBody>
                  <a:tcPr/>
                </a:tc>
                <a:extLst>
                  <a:ext uri="{0D108BD9-81ED-4DB2-BD59-A6C34878D82A}">
                    <a16:rowId xmlns:a16="http://schemas.microsoft.com/office/drawing/2014/main" val="3383648425"/>
                  </a:ext>
                </a:extLst>
              </a:tr>
              <a:tr h="183652">
                <a:tc>
                  <a:txBody>
                    <a:bodyPr/>
                    <a:lstStyle/>
                    <a:p>
                      <a:r>
                        <a:rPr lang="en-CA" sz="1200" dirty="0">
                          <a:latin typeface="Segoe UI" panose="020B0502040204020203" pitchFamily="34" charset="0"/>
                          <a:cs typeface="Segoe UI" panose="020B0502040204020203" pitchFamily="34" charset="0"/>
                        </a:rPr>
                        <a:t>Parquet</a:t>
                      </a:r>
                    </a:p>
                  </a:txBody>
                  <a:tcPr/>
                </a:tc>
                <a:tc>
                  <a:txBody>
                    <a:bodyPr/>
                    <a:lstStyle/>
                    <a:p>
                      <a:r>
                        <a:rPr lang="en-CA" sz="1200" dirty="0">
                          <a:latin typeface="Segoe UI" panose="020B0502040204020203" pitchFamily="34" charset="0"/>
                          <a:cs typeface="Segoe UI" panose="020B0502040204020203" pitchFamily="34" charset="0"/>
                        </a:rPr>
                        <a:t>10.15 MB</a:t>
                      </a:r>
                    </a:p>
                  </a:txBody>
                  <a:tcPr/>
                </a:tc>
                <a:tc>
                  <a:txBody>
                    <a:bodyPr/>
                    <a:lstStyle/>
                    <a:p>
                      <a:r>
                        <a:rPr lang="en-CA" sz="1200" dirty="0">
                          <a:latin typeface="Segoe UI" panose="020B0502040204020203" pitchFamily="34" charset="0"/>
                          <a:cs typeface="Segoe UI" panose="020B0502040204020203" pitchFamily="34" charset="0"/>
                        </a:rPr>
                        <a:t>95.35 MB</a:t>
                      </a:r>
                    </a:p>
                  </a:txBody>
                  <a:tcPr/>
                </a:tc>
                <a:tc>
                  <a:txBody>
                    <a:bodyPr/>
                    <a:lstStyle/>
                    <a:p>
                      <a:r>
                        <a:rPr lang="en-CA" sz="1200" dirty="0">
                          <a:latin typeface="Segoe UI" panose="020B0502040204020203" pitchFamily="34" charset="0"/>
                          <a:cs typeface="Segoe UI" panose="020B0502040204020203" pitchFamily="34" charset="0"/>
                        </a:rPr>
                        <a:t>951.67 MB</a:t>
                      </a:r>
                    </a:p>
                  </a:txBody>
                  <a:tcPr/>
                </a:tc>
                <a:extLst>
                  <a:ext uri="{0D108BD9-81ED-4DB2-BD59-A6C34878D82A}">
                    <a16:rowId xmlns:a16="http://schemas.microsoft.com/office/drawing/2014/main" val="2639633700"/>
                  </a:ext>
                </a:extLst>
              </a:tr>
            </a:tbl>
          </a:graphicData>
        </a:graphic>
      </p:graphicFrame>
      <p:graphicFrame>
        <p:nvGraphicFramePr>
          <p:cNvPr id="22" name="Table 21">
            <a:extLst>
              <a:ext uri="{FF2B5EF4-FFF2-40B4-BE49-F238E27FC236}">
                <a16:creationId xmlns:a16="http://schemas.microsoft.com/office/drawing/2014/main" id="{FF27305C-F738-7107-DB38-9ACF9716167E}"/>
              </a:ext>
            </a:extLst>
          </p:cNvPr>
          <p:cNvGraphicFramePr>
            <a:graphicFrameLocks noGrp="1"/>
          </p:cNvGraphicFramePr>
          <p:nvPr>
            <p:extLst>
              <p:ext uri="{D42A27DB-BD31-4B8C-83A1-F6EECF244321}">
                <p14:modId xmlns:p14="http://schemas.microsoft.com/office/powerpoint/2010/main" val="198125163"/>
              </p:ext>
            </p:extLst>
          </p:nvPr>
        </p:nvGraphicFramePr>
        <p:xfrm>
          <a:off x="6237193" y="3882888"/>
          <a:ext cx="4297457" cy="2536961"/>
        </p:xfrm>
        <a:graphic>
          <a:graphicData uri="http://schemas.openxmlformats.org/drawingml/2006/table">
            <a:tbl>
              <a:tblPr firstRow="1" bandRow="1">
                <a:tableStyleId>{7E9639D4-E3E2-4D34-9284-5A2195B3D0D7}</a:tableStyleId>
              </a:tblPr>
              <a:tblGrid>
                <a:gridCol w="625037">
                  <a:extLst>
                    <a:ext uri="{9D8B030D-6E8A-4147-A177-3AD203B41FA5}">
                      <a16:colId xmlns:a16="http://schemas.microsoft.com/office/drawing/2014/main" val="4221306925"/>
                    </a:ext>
                  </a:extLst>
                </a:gridCol>
                <a:gridCol w="875931">
                  <a:extLst>
                    <a:ext uri="{9D8B030D-6E8A-4147-A177-3AD203B41FA5}">
                      <a16:colId xmlns:a16="http://schemas.microsoft.com/office/drawing/2014/main" val="2144525385"/>
                    </a:ext>
                  </a:extLst>
                </a:gridCol>
                <a:gridCol w="813380">
                  <a:extLst>
                    <a:ext uri="{9D8B030D-6E8A-4147-A177-3AD203B41FA5}">
                      <a16:colId xmlns:a16="http://schemas.microsoft.com/office/drawing/2014/main" val="1528408529"/>
                    </a:ext>
                  </a:extLst>
                </a:gridCol>
                <a:gridCol w="1983109">
                  <a:extLst>
                    <a:ext uri="{9D8B030D-6E8A-4147-A177-3AD203B41FA5}">
                      <a16:colId xmlns:a16="http://schemas.microsoft.com/office/drawing/2014/main" val="3587782378"/>
                    </a:ext>
                  </a:extLst>
                </a:gridCol>
              </a:tblGrid>
              <a:tr h="194999">
                <a:tc>
                  <a:txBody>
                    <a:bodyPr/>
                    <a:lstStyle/>
                    <a:p>
                      <a:pPr algn="ctr" fontAlgn="b"/>
                      <a:r>
                        <a:rPr lang="en-CA" sz="1200" b="1" i="0" u="none" strike="noStrike" dirty="0">
                          <a:solidFill>
                            <a:schemeClr val="bg1"/>
                          </a:solidFill>
                          <a:effectLst/>
                          <a:latin typeface="Segoe UI" panose="020B0502040204020203" pitchFamily="34" charset="0"/>
                          <a:cs typeface="Segoe UI" panose="020B0502040204020203" pitchFamily="34" charset="0"/>
                        </a:rPr>
                        <a:t>Dataset</a:t>
                      </a:r>
                    </a:p>
                  </a:txBody>
                  <a:tcPr marL="4763" marR="4763" marT="4763" marB="0" anchor="b"/>
                </a:tc>
                <a:tc>
                  <a:txBody>
                    <a:bodyPr/>
                    <a:lstStyle/>
                    <a:p>
                      <a:pPr algn="ctr" fontAlgn="b"/>
                      <a:r>
                        <a:rPr lang="en-CA" sz="1200" b="1" i="0" u="none" strike="noStrike" dirty="0">
                          <a:solidFill>
                            <a:schemeClr val="bg1"/>
                          </a:solidFill>
                          <a:effectLst/>
                          <a:latin typeface="Segoe UI" panose="020B0502040204020203" pitchFamily="34" charset="0"/>
                          <a:cs typeface="Segoe UI" panose="020B0502040204020203" pitchFamily="34" charset="0"/>
                        </a:rPr>
                        <a:t>Library</a:t>
                      </a:r>
                    </a:p>
                  </a:txBody>
                  <a:tcPr marL="4763" marR="4763" marT="4763" marB="0" anchor="b"/>
                </a:tc>
                <a:tc>
                  <a:txBody>
                    <a:bodyPr/>
                    <a:lstStyle/>
                    <a:p>
                      <a:pPr algn="ctr" fontAlgn="b"/>
                      <a:r>
                        <a:rPr lang="en-CA" sz="1200" b="1" i="0" u="none" strike="noStrike" dirty="0">
                          <a:solidFill>
                            <a:schemeClr val="bg1"/>
                          </a:solidFill>
                          <a:effectLst/>
                          <a:latin typeface="Segoe UI" panose="020B0502040204020203" pitchFamily="34" charset="0"/>
                          <a:cs typeface="Segoe UI" panose="020B0502040204020203" pitchFamily="34" charset="0"/>
                        </a:rPr>
                        <a:t>Operation</a:t>
                      </a:r>
                    </a:p>
                  </a:txBody>
                  <a:tcPr marL="4763" marR="4763" marT="4763" marB="0" anchor="b"/>
                </a:tc>
                <a:tc>
                  <a:txBody>
                    <a:bodyPr/>
                    <a:lstStyle/>
                    <a:p>
                      <a:pPr algn="ctr" fontAlgn="b"/>
                      <a:r>
                        <a:rPr lang="en-CA" sz="1200" b="1" i="0" u="none" strike="noStrike" dirty="0">
                          <a:solidFill>
                            <a:schemeClr val="bg1"/>
                          </a:solidFill>
                          <a:effectLst/>
                          <a:latin typeface="Segoe UI" panose="020B0502040204020203" pitchFamily="34" charset="0"/>
                          <a:cs typeface="Segoe UI" panose="020B0502040204020203" pitchFamily="34" charset="0"/>
                        </a:rPr>
                        <a:t>Read Vs Write Time (SEC)</a:t>
                      </a:r>
                    </a:p>
                  </a:txBody>
                  <a:tcPr marL="4763" marR="4763" marT="4763" marB="0" anchor="b"/>
                </a:tc>
                <a:extLst>
                  <a:ext uri="{0D108BD9-81ED-4DB2-BD59-A6C34878D82A}">
                    <a16:rowId xmlns:a16="http://schemas.microsoft.com/office/drawing/2014/main" val="3180480488"/>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CSV</a:t>
                      </a:r>
                    </a:p>
                  </a:txBody>
                  <a:tcPr marL="4763" marR="4763" marT="4763" marB="0" anchor="b"/>
                </a:tc>
                <a:tc>
                  <a:txBody>
                    <a:bodyPr/>
                    <a:lstStyle/>
                    <a:p>
                      <a:pPr algn="l" fontAlgn="b"/>
                      <a:r>
                        <a:rPr lang="en-CA" sz="1200" b="0" i="0" u="none" strike="noStrike" dirty="0">
                          <a:solidFill>
                            <a:srgbClr val="000000"/>
                          </a:solidFill>
                          <a:effectLst/>
                          <a:latin typeface="Segoe UI" panose="020B0502040204020203" pitchFamily="34" charset="0"/>
                          <a:cs typeface="Segoe UI" panose="020B0502040204020203" pitchFamily="34" charset="0"/>
                        </a:rPr>
                        <a:t>Read</a:t>
                      </a:r>
                    </a:p>
                  </a:txBody>
                  <a:tcPr marL="4763" marR="4763" marT="4763" marB="0" anchor="b"/>
                </a:tc>
                <a:tc>
                  <a:txBody>
                    <a:bodyPr/>
                    <a:lstStyle/>
                    <a:p>
                      <a:pPr algn="r" fontAlgn="b"/>
                      <a:r>
                        <a:rPr lang="en-CA" sz="1200" b="0" i="0" u="none" strike="noStrike" dirty="0">
                          <a:solidFill>
                            <a:srgbClr val="000000"/>
                          </a:solidFill>
                          <a:effectLst/>
                          <a:latin typeface="Segoe UI" panose="020B0502040204020203" pitchFamily="34" charset="0"/>
                          <a:cs typeface="Segoe UI" panose="020B0502040204020203" pitchFamily="34" charset="0"/>
                        </a:rPr>
                        <a:t>0.4266</a:t>
                      </a:r>
                    </a:p>
                  </a:txBody>
                  <a:tcPr marL="4763" marR="4763" marT="4763" marB="0" anchor="b"/>
                </a:tc>
                <a:extLst>
                  <a:ext uri="{0D108BD9-81ED-4DB2-BD59-A6C34878D82A}">
                    <a16:rowId xmlns:a16="http://schemas.microsoft.com/office/drawing/2014/main" val="1791446452"/>
                  </a:ext>
                </a:extLst>
              </a:tr>
              <a:tr h="194999">
                <a:tc>
                  <a:txBody>
                    <a:bodyPr/>
                    <a:lstStyle/>
                    <a:p>
                      <a:pPr algn="l" fontAlgn="b"/>
                      <a:r>
                        <a:rPr lang="en-CA" sz="1200" b="0" i="0" u="none" strike="noStrike" dirty="0">
                          <a:solidFill>
                            <a:srgbClr val="000000"/>
                          </a:solidFill>
                          <a:effectLst/>
                          <a:latin typeface="Segoe UI" panose="020B0502040204020203" pitchFamily="34" charset="0"/>
                          <a:cs typeface="Segoe UI" panose="020B0502040204020203" pitchFamily="34" charset="0"/>
                        </a:rPr>
                        <a:t>1x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Parquet</a:t>
                      </a:r>
                    </a:p>
                  </a:txBody>
                  <a:tcPr marL="4763" marR="4763" marT="4763" marB="0" anchor="b"/>
                </a:tc>
                <a:tc>
                  <a:txBody>
                    <a:bodyPr/>
                    <a:lstStyle/>
                    <a:p>
                      <a:pPr algn="l" fontAlgn="b"/>
                      <a:r>
                        <a:rPr lang="en-CA" sz="1200" b="0" i="0" u="none" strike="noStrike" dirty="0">
                          <a:solidFill>
                            <a:srgbClr val="000000"/>
                          </a:solidFill>
                          <a:effectLst/>
                          <a:latin typeface="Segoe UI" panose="020B0502040204020203" pitchFamily="34" charset="0"/>
                          <a:cs typeface="Segoe UI" panose="020B0502040204020203" pitchFamily="34" charset="0"/>
                        </a:rPr>
                        <a:t>Read</a:t>
                      </a:r>
                    </a:p>
                  </a:txBody>
                  <a:tcPr marL="4763" marR="4763" marT="4763" marB="0" anchor="b"/>
                </a:tc>
                <a:tc>
                  <a:txBody>
                    <a:bodyPr/>
                    <a:lstStyle/>
                    <a:p>
                      <a:pPr algn="r" fontAlgn="b"/>
                      <a:r>
                        <a:rPr lang="en-CA" sz="1200" b="0" i="0" u="none" strike="noStrike" dirty="0">
                          <a:solidFill>
                            <a:srgbClr val="000000"/>
                          </a:solidFill>
                          <a:effectLst/>
                          <a:latin typeface="Segoe UI" panose="020B0502040204020203" pitchFamily="34" charset="0"/>
                          <a:cs typeface="Segoe UI" panose="020B0502040204020203" pitchFamily="34" charset="0"/>
                        </a:rPr>
                        <a:t>0.3523</a:t>
                      </a:r>
                    </a:p>
                  </a:txBody>
                  <a:tcPr marL="4763" marR="4763" marT="4763" marB="0" anchor="b"/>
                </a:tc>
                <a:extLst>
                  <a:ext uri="{0D108BD9-81ED-4DB2-BD59-A6C34878D82A}">
                    <a16:rowId xmlns:a16="http://schemas.microsoft.com/office/drawing/2014/main" val="4111461100"/>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CSV</a:t>
                      </a:r>
                    </a:p>
                  </a:txBody>
                  <a:tcPr marL="4763" marR="4763" marT="4763" marB="0" anchor="b"/>
                </a:tc>
                <a:tc>
                  <a:txBody>
                    <a:bodyPr/>
                    <a:lstStyle/>
                    <a:p>
                      <a:pPr algn="l" fontAlgn="b"/>
                      <a:r>
                        <a:rPr lang="en-CA" sz="1200" b="0" i="0" u="none" strike="noStrike" dirty="0">
                          <a:solidFill>
                            <a:srgbClr val="000000"/>
                          </a:solidFill>
                          <a:effectLst/>
                          <a:latin typeface="Segoe UI" panose="020B0502040204020203" pitchFamily="34" charset="0"/>
                          <a:cs typeface="Segoe UI" panose="020B0502040204020203" pitchFamily="34" charset="0"/>
                        </a:rPr>
                        <a:t>Write</a:t>
                      </a:r>
                    </a:p>
                  </a:txBody>
                  <a:tcPr marL="4763" marR="4763" marT="4763" marB="0" anchor="b"/>
                </a:tc>
                <a:tc>
                  <a:txBody>
                    <a:bodyPr/>
                    <a:lstStyle/>
                    <a:p>
                      <a:pPr algn="r" fontAlgn="b"/>
                      <a:r>
                        <a:rPr lang="en-CA" sz="1200" b="0" i="0" u="none" strike="noStrike" dirty="0">
                          <a:solidFill>
                            <a:srgbClr val="000000"/>
                          </a:solidFill>
                          <a:effectLst/>
                          <a:latin typeface="Segoe UI" panose="020B0502040204020203" pitchFamily="34" charset="0"/>
                          <a:cs typeface="Segoe UI" panose="020B0502040204020203" pitchFamily="34" charset="0"/>
                        </a:rPr>
                        <a:t>2.0242</a:t>
                      </a:r>
                    </a:p>
                  </a:txBody>
                  <a:tcPr marL="4763" marR="4763" marT="4763" marB="0" anchor="b"/>
                </a:tc>
                <a:extLst>
                  <a:ext uri="{0D108BD9-81ED-4DB2-BD59-A6C34878D82A}">
                    <a16:rowId xmlns:a16="http://schemas.microsoft.com/office/drawing/2014/main" val="1184452537"/>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Parquet</a:t>
                      </a:r>
                    </a:p>
                  </a:txBody>
                  <a:tcPr marL="4763" marR="4763" marT="4763" marB="0" anchor="b"/>
                </a:tc>
                <a:tc>
                  <a:txBody>
                    <a:bodyPr/>
                    <a:lstStyle/>
                    <a:p>
                      <a:pPr algn="l" fontAlgn="b"/>
                      <a:r>
                        <a:rPr lang="en-CA" sz="1200" b="0" i="0" u="none" strike="noStrike" dirty="0">
                          <a:solidFill>
                            <a:srgbClr val="000000"/>
                          </a:solidFill>
                          <a:effectLst/>
                          <a:latin typeface="Segoe UI" panose="020B0502040204020203" pitchFamily="34" charset="0"/>
                          <a:cs typeface="Segoe UI" panose="020B0502040204020203" pitchFamily="34" charset="0"/>
                        </a:rPr>
                        <a:t>Write</a:t>
                      </a:r>
                    </a:p>
                  </a:txBody>
                  <a:tcPr marL="4763" marR="4763" marT="4763" marB="0" anchor="b"/>
                </a:tc>
                <a:tc>
                  <a:txBody>
                    <a:bodyPr/>
                    <a:lstStyle/>
                    <a:p>
                      <a:pPr algn="r" fontAlgn="b"/>
                      <a:r>
                        <a:rPr lang="en-CA" sz="1200" b="0" i="0" u="none" strike="noStrike">
                          <a:solidFill>
                            <a:srgbClr val="000000"/>
                          </a:solidFill>
                          <a:effectLst/>
                          <a:latin typeface="Segoe UI" panose="020B0502040204020203" pitchFamily="34" charset="0"/>
                          <a:cs typeface="Segoe UI" panose="020B0502040204020203" pitchFamily="34" charset="0"/>
                        </a:rPr>
                        <a:t>0.3437</a:t>
                      </a:r>
                    </a:p>
                  </a:txBody>
                  <a:tcPr marL="4763" marR="4763" marT="4763" marB="0" anchor="b"/>
                </a:tc>
                <a:extLst>
                  <a:ext uri="{0D108BD9-81ED-4DB2-BD59-A6C34878D82A}">
                    <a16:rowId xmlns:a16="http://schemas.microsoft.com/office/drawing/2014/main" val="2426390764"/>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10x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CSV</a:t>
                      </a:r>
                    </a:p>
                  </a:txBody>
                  <a:tcPr marL="4763" marR="4763" marT="4763" marB="0" anchor="b"/>
                </a:tc>
                <a:tc>
                  <a:txBody>
                    <a:bodyPr/>
                    <a:lstStyle/>
                    <a:p>
                      <a:pPr algn="l" fontAlgn="b"/>
                      <a:r>
                        <a:rPr lang="en-CA" sz="1200" b="0" i="0" u="none" strike="noStrike" dirty="0">
                          <a:solidFill>
                            <a:srgbClr val="000000"/>
                          </a:solidFill>
                          <a:effectLst/>
                          <a:latin typeface="Segoe UI" panose="020B0502040204020203" pitchFamily="34" charset="0"/>
                          <a:cs typeface="Segoe UI" panose="020B0502040204020203" pitchFamily="34" charset="0"/>
                        </a:rPr>
                        <a:t>Read</a:t>
                      </a:r>
                    </a:p>
                  </a:txBody>
                  <a:tcPr marL="4763" marR="4763" marT="4763" marB="0" anchor="b"/>
                </a:tc>
                <a:tc>
                  <a:txBody>
                    <a:bodyPr/>
                    <a:lstStyle/>
                    <a:p>
                      <a:pPr algn="r" fontAlgn="b"/>
                      <a:r>
                        <a:rPr lang="en-CA" sz="1200" b="0" i="0" u="none" strike="noStrike">
                          <a:solidFill>
                            <a:srgbClr val="000000"/>
                          </a:solidFill>
                          <a:effectLst/>
                          <a:latin typeface="Segoe UI" panose="020B0502040204020203" pitchFamily="34" charset="0"/>
                          <a:cs typeface="Segoe UI" panose="020B0502040204020203" pitchFamily="34" charset="0"/>
                        </a:rPr>
                        <a:t>3.879</a:t>
                      </a:r>
                    </a:p>
                  </a:txBody>
                  <a:tcPr marL="4763" marR="4763" marT="4763" marB="0" anchor="b"/>
                </a:tc>
                <a:extLst>
                  <a:ext uri="{0D108BD9-81ED-4DB2-BD59-A6C34878D82A}">
                    <a16:rowId xmlns:a16="http://schemas.microsoft.com/office/drawing/2014/main" val="1260480944"/>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10x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Parquet</a:t>
                      </a:r>
                    </a:p>
                  </a:txBody>
                  <a:tcPr marL="4763" marR="4763" marT="4763" marB="0" anchor="b"/>
                </a:tc>
                <a:tc>
                  <a:txBody>
                    <a:bodyPr/>
                    <a:lstStyle/>
                    <a:p>
                      <a:pPr algn="l" fontAlgn="b"/>
                      <a:r>
                        <a:rPr lang="en-CA" sz="1200" b="0" i="0" u="none" strike="noStrike" dirty="0">
                          <a:solidFill>
                            <a:srgbClr val="000000"/>
                          </a:solidFill>
                          <a:effectLst/>
                          <a:latin typeface="Segoe UI" panose="020B0502040204020203" pitchFamily="34" charset="0"/>
                          <a:cs typeface="Segoe UI" panose="020B0502040204020203" pitchFamily="34" charset="0"/>
                        </a:rPr>
                        <a:t>Read</a:t>
                      </a:r>
                    </a:p>
                  </a:txBody>
                  <a:tcPr marL="4763" marR="4763" marT="4763" marB="0" anchor="b"/>
                </a:tc>
                <a:tc>
                  <a:txBody>
                    <a:bodyPr/>
                    <a:lstStyle/>
                    <a:p>
                      <a:pPr algn="r" fontAlgn="b"/>
                      <a:r>
                        <a:rPr lang="en-CA" sz="1200" b="0" i="0" u="none" strike="noStrike">
                          <a:solidFill>
                            <a:srgbClr val="000000"/>
                          </a:solidFill>
                          <a:effectLst/>
                          <a:latin typeface="Segoe UI" panose="020B0502040204020203" pitchFamily="34" charset="0"/>
                          <a:cs typeface="Segoe UI" panose="020B0502040204020203" pitchFamily="34" charset="0"/>
                        </a:rPr>
                        <a:t>0.8882</a:t>
                      </a:r>
                    </a:p>
                  </a:txBody>
                  <a:tcPr marL="4763" marR="4763" marT="4763" marB="0" anchor="b"/>
                </a:tc>
                <a:extLst>
                  <a:ext uri="{0D108BD9-81ED-4DB2-BD59-A6C34878D82A}">
                    <a16:rowId xmlns:a16="http://schemas.microsoft.com/office/drawing/2014/main" val="1176686533"/>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10x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CSV</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Write</a:t>
                      </a:r>
                    </a:p>
                  </a:txBody>
                  <a:tcPr marL="4763" marR="4763" marT="4763" marB="0" anchor="b"/>
                </a:tc>
                <a:tc>
                  <a:txBody>
                    <a:bodyPr/>
                    <a:lstStyle/>
                    <a:p>
                      <a:pPr algn="r" fontAlgn="b"/>
                      <a:r>
                        <a:rPr lang="en-CA" sz="1200" b="0" i="0" u="none" strike="noStrike">
                          <a:solidFill>
                            <a:srgbClr val="000000"/>
                          </a:solidFill>
                          <a:effectLst/>
                          <a:latin typeface="Segoe UI" panose="020B0502040204020203" pitchFamily="34" charset="0"/>
                          <a:cs typeface="Segoe UI" panose="020B0502040204020203" pitchFamily="34" charset="0"/>
                        </a:rPr>
                        <a:t>20.9722</a:t>
                      </a:r>
                    </a:p>
                  </a:txBody>
                  <a:tcPr marL="4763" marR="4763" marT="4763" marB="0" anchor="b"/>
                </a:tc>
                <a:extLst>
                  <a:ext uri="{0D108BD9-81ED-4DB2-BD59-A6C34878D82A}">
                    <a16:rowId xmlns:a16="http://schemas.microsoft.com/office/drawing/2014/main" val="441763787"/>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10x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Parquet</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Write</a:t>
                      </a:r>
                    </a:p>
                  </a:txBody>
                  <a:tcPr marL="4763" marR="4763" marT="4763" marB="0" anchor="b"/>
                </a:tc>
                <a:tc>
                  <a:txBody>
                    <a:bodyPr/>
                    <a:lstStyle/>
                    <a:p>
                      <a:pPr algn="r" fontAlgn="b"/>
                      <a:r>
                        <a:rPr lang="en-CA" sz="1200" b="0" i="0" u="none" strike="noStrike">
                          <a:solidFill>
                            <a:srgbClr val="000000"/>
                          </a:solidFill>
                          <a:effectLst/>
                          <a:latin typeface="Segoe UI" panose="020B0502040204020203" pitchFamily="34" charset="0"/>
                          <a:cs typeface="Segoe UI" panose="020B0502040204020203" pitchFamily="34" charset="0"/>
                        </a:rPr>
                        <a:t>3.0576</a:t>
                      </a:r>
                    </a:p>
                  </a:txBody>
                  <a:tcPr marL="4763" marR="4763" marT="4763" marB="0" anchor="b"/>
                </a:tc>
                <a:extLst>
                  <a:ext uri="{0D108BD9-81ED-4DB2-BD59-A6C34878D82A}">
                    <a16:rowId xmlns:a16="http://schemas.microsoft.com/office/drawing/2014/main" val="2086730801"/>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100x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CSV</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Read</a:t>
                      </a:r>
                    </a:p>
                  </a:txBody>
                  <a:tcPr marL="4763" marR="4763" marT="4763" marB="0" anchor="b"/>
                </a:tc>
                <a:tc>
                  <a:txBody>
                    <a:bodyPr/>
                    <a:lstStyle/>
                    <a:p>
                      <a:pPr algn="r" fontAlgn="b"/>
                      <a:r>
                        <a:rPr lang="en-CA" sz="1200" b="0" i="0" u="none" strike="noStrike">
                          <a:solidFill>
                            <a:srgbClr val="000000"/>
                          </a:solidFill>
                          <a:effectLst/>
                          <a:latin typeface="Segoe UI" panose="020B0502040204020203" pitchFamily="34" charset="0"/>
                          <a:cs typeface="Segoe UI" panose="020B0502040204020203" pitchFamily="34" charset="0"/>
                        </a:rPr>
                        <a:t>3.9515</a:t>
                      </a:r>
                    </a:p>
                  </a:txBody>
                  <a:tcPr marL="4763" marR="4763" marT="4763" marB="0" anchor="b"/>
                </a:tc>
                <a:extLst>
                  <a:ext uri="{0D108BD9-81ED-4DB2-BD59-A6C34878D82A}">
                    <a16:rowId xmlns:a16="http://schemas.microsoft.com/office/drawing/2014/main" val="1226691798"/>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100x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Parquet</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Read</a:t>
                      </a:r>
                    </a:p>
                  </a:txBody>
                  <a:tcPr marL="4763" marR="4763" marT="4763" marB="0" anchor="b"/>
                </a:tc>
                <a:tc>
                  <a:txBody>
                    <a:bodyPr/>
                    <a:lstStyle/>
                    <a:p>
                      <a:pPr algn="r" fontAlgn="b"/>
                      <a:r>
                        <a:rPr lang="en-CA" sz="1200" b="0" i="0" u="none" strike="noStrike">
                          <a:solidFill>
                            <a:srgbClr val="000000"/>
                          </a:solidFill>
                          <a:effectLst/>
                          <a:latin typeface="Segoe UI" panose="020B0502040204020203" pitchFamily="34" charset="0"/>
                          <a:cs typeface="Segoe UI" panose="020B0502040204020203" pitchFamily="34" charset="0"/>
                        </a:rPr>
                        <a:t>1.1479</a:t>
                      </a:r>
                    </a:p>
                  </a:txBody>
                  <a:tcPr marL="4763" marR="4763" marT="4763" marB="0" anchor="b"/>
                </a:tc>
                <a:extLst>
                  <a:ext uri="{0D108BD9-81ED-4DB2-BD59-A6C34878D82A}">
                    <a16:rowId xmlns:a16="http://schemas.microsoft.com/office/drawing/2014/main" val="1123932019"/>
                  </a:ext>
                </a:extLst>
              </a:tr>
              <a:tr h="196973">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100x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CSV</a:t>
                      </a:r>
                    </a:p>
                  </a:txBody>
                  <a:tcPr marL="4763" marR="4763" marT="4763" marB="0" anchor="b"/>
                </a:tc>
                <a:tc>
                  <a:txBody>
                    <a:bodyPr/>
                    <a:lstStyle/>
                    <a:p>
                      <a:pPr algn="l" fontAlgn="b"/>
                      <a:r>
                        <a:rPr lang="en-CA" sz="1200" b="0" i="0" u="none" strike="noStrike" dirty="0">
                          <a:solidFill>
                            <a:srgbClr val="000000"/>
                          </a:solidFill>
                          <a:effectLst/>
                          <a:latin typeface="Segoe UI" panose="020B0502040204020203" pitchFamily="34" charset="0"/>
                          <a:cs typeface="Segoe UI" panose="020B0502040204020203" pitchFamily="34" charset="0"/>
                        </a:rPr>
                        <a:t>Write</a:t>
                      </a:r>
                    </a:p>
                  </a:txBody>
                  <a:tcPr marL="4763" marR="4763" marT="4763" marB="0" anchor="b"/>
                </a:tc>
                <a:tc>
                  <a:txBody>
                    <a:bodyPr/>
                    <a:lstStyle/>
                    <a:p>
                      <a:pPr algn="r" fontAlgn="b"/>
                      <a:r>
                        <a:rPr lang="en-CA" sz="1200" b="0" i="0" u="none" strike="noStrike">
                          <a:solidFill>
                            <a:srgbClr val="000000"/>
                          </a:solidFill>
                          <a:effectLst/>
                          <a:latin typeface="Segoe UI" panose="020B0502040204020203" pitchFamily="34" charset="0"/>
                          <a:cs typeface="Segoe UI" panose="020B0502040204020203" pitchFamily="34" charset="0"/>
                        </a:rPr>
                        <a:t>24.6565</a:t>
                      </a:r>
                    </a:p>
                  </a:txBody>
                  <a:tcPr marL="4763" marR="4763" marT="4763" marB="0" anchor="b"/>
                </a:tc>
                <a:extLst>
                  <a:ext uri="{0D108BD9-81ED-4DB2-BD59-A6C34878D82A}">
                    <a16:rowId xmlns:a16="http://schemas.microsoft.com/office/drawing/2014/main" val="3383648425"/>
                  </a:ext>
                </a:extLst>
              </a:tr>
              <a:tr h="194999">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100x</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Parquet</a:t>
                      </a:r>
                    </a:p>
                  </a:txBody>
                  <a:tcPr marL="4763" marR="4763" marT="4763" marB="0" anchor="b"/>
                </a:tc>
                <a:tc>
                  <a:txBody>
                    <a:bodyPr/>
                    <a:lstStyle/>
                    <a:p>
                      <a:pPr algn="l" fontAlgn="b"/>
                      <a:r>
                        <a:rPr lang="en-CA" sz="1200" b="0" i="0" u="none" strike="noStrike">
                          <a:solidFill>
                            <a:srgbClr val="000000"/>
                          </a:solidFill>
                          <a:effectLst/>
                          <a:latin typeface="Segoe UI" panose="020B0502040204020203" pitchFamily="34" charset="0"/>
                          <a:cs typeface="Segoe UI" panose="020B0502040204020203" pitchFamily="34" charset="0"/>
                        </a:rPr>
                        <a:t>Write</a:t>
                      </a:r>
                    </a:p>
                  </a:txBody>
                  <a:tcPr marL="4763" marR="4763" marT="4763" marB="0" anchor="b"/>
                </a:tc>
                <a:tc>
                  <a:txBody>
                    <a:bodyPr/>
                    <a:lstStyle/>
                    <a:p>
                      <a:pPr algn="r" fontAlgn="b"/>
                      <a:r>
                        <a:rPr lang="en-CA" sz="1200" b="0" i="0" u="none" strike="noStrike" dirty="0">
                          <a:solidFill>
                            <a:srgbClr val="000000"/>
                          </a:solidFill>
                          <a:effectLst/>
                          <a:latin typeface="Segoe UI" panose="020B0502040204020203" pitchFamily="34" charset="0"/>
                          <a:cs typeface="Segoe UI" panose="020B0502040204020203" pitchFamily="34" charset="0"/>
                        </a:rPr>
                        <a:t>2.7907</a:t>
                      </a:r>
                    </a:p>
                  </a:txBody>
                  <a:tcPr marL="4763" marR="4763" marT="4763" marB="0" anchor="b"/>
                </a:tc>
                <a:extLst>
                  <a:ext uri="{0D108BD9-81ED-4DB2-BD59-A6C34878D82A}">
                    <a16:rowId xmlns:a16="http://schemas.microsoft.com/office/drawing/2014/main" val="2639633700"/>
                  </a:ext>
                </a:extLst>
              </a:tr>
            </a:tbl>
          </a:graphicData>
        </a:graphic>
      </p:graphicFrame>
    </p:spTree>
    <p:extLst>
      <p:ext uri="{BB962C8B-B14F-4D97-AF65-F5344CB8AC3E}">
        <p14:creationId xmlns:p14="http://schemas.microsoft.com/office/powerpoint/2010/main" val="2876611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28BC22-8F6D-49B2-0D1E-8843C4A52007}"/>
            </a:ext>
          </a:extLst>
        </p:cNvPr>
        <p:cNvGrpSpPr/>
        <p:nvPr/>
      </p:nvGrpSpPr>
      <p:grpSpPr>
        <a:xfrm>
          <a:off x="0" y="0"/>
          <a:ext cx="0" cy="0"/>
          <a:chOff x="0" y="0"/>
          <a:chExt cx="0" cy="0"/>
        </a:xfrm>
      </p:grpSpPr>
      <p:sp>
        <p:nvSpPr>
          <p:cNvPr id="31" name="Freeform: Shape 30">
            <a:extLst>
              <a:ext uri="{FF2B5EF4-FFF2-40B4-BE49-F238E27FC236}">
                <a16:creationId xmlns:a16="http://schemas.microsoft.com/office/drawing/2014/main" id="{13B7BB51-92B8-4089-8DAB-1202A4D1C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15111"/>
            <a:ext cx="3021543" cy="1435442"/>
          </a:xfrm>
          <a:custGeom>
            <a:avLst/>
            <a:gdLst/>
            <a:ahLst/>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useBgFill="1">
        <p:nvSpPr>
          <p:cNvPr id="33" name="Rectangle 32">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1948FD2F-8478-2520-7A79-76EF006F696F}"/>
              </a:ext>
            </a:extLst>
          </p:cNvPr>
          <p:cNvSpPr>
            <a:spLocks noGrp="1"/>
          </p:cNvSpPr>
          <p:nvPr>
            <p:ph type="title"/>
          </p:nvPr>
        </p:nvSpPr>
        <p:spPr>
          <a:xfrm>
            <a:off x="838201" y="643467"/>
            <a:ext cx="3888526" cy="1800526"/>
          </a:xfrm>
        </p:spPr>
        <p:txBody>
          <a:bodyPr vert="horz" lIns="91440" tIns="45720" rIns="91440" bIns="45720" rtlCol="0" anchor="ctr">
            <a:normAutofit/>
          </a:bodyPr>
          <a:lstStyle/>
          <a:p>
            <a:r>
              <a:rPr lang="en-US" sz="3100" b="1" i="1" dirty="0">
                <a:latin typeface="Segoe UI" panose="020B0502040204020203" pitchFamily="34" charset="0"/>
                <a:cs typeface="Segoe UI" panose="020B0502040204020203" pitchFamily="34" charset="0"/>
              </a:rPr>
              <a:t>Assignment -1 : Part -2 (Analysis and Machine learning)</a:t>
            </a:r>
          </a:p>
        </p:txBody>
      </p:sp>
      <p:sp>
        <p:nvSpPr>
          <p:cNvPr id="17" name="TextBox 16">
            <a:extLst>
              <a:ext uri="{FF2B5EF4-FFF2-40B4-BE49-F238E27FC236}">
                <a16:creationId xmlns:a16="http://schemas.microsoft.com/office/drawing/2014/main" id="{961D12E5-C914-B8D3-93C6-232C916382C9}"/>
              </a:ext>
            </a:extLst>
          </p:cNvPr>
          <p:cNvSpPr txBox="1"/>
          <p:nvPr/>
        </p:nvSpPr>
        <p:spPr>
          <a:xfrm>
            <a:off x="838201" y="2623381"/>
            <a:ext cx="3888528" cy="3553581"/>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b="1" dirty="0">
                <a:latin typeface="Segoe UI" panose="020B0502040204020203" pitchFamily="34" charset="0"/>
                <a:cs typeface="Segoe UI" panose="020B0502040204020203" pitchFamily="34" charset="0"/>
              </a:rPr>
              <a:t>Data Analysis &amp; Prediction</a:t>
            </a:r>
            <a:br>
              <a:rPr lang="en-US" sz="1400" dirty="0">
                <a:latin typeface="Segoe UI" panose="020B0502040204020203" pitchFamily="34" charset="0"/>
                <a:cs typeface="Segoe UI" panose="020B0502040204020203" pitchFamily="34" charset="0"/>
              </a:rPr>
            </a:br>
            <a:br>
              <a:rPr lang="en-US" sz="1400" dirty="0">
                <a:latin typeface="Segoe UI" panose="020B0502040204020203" pitchFamily="34" charset="0"/>
                <a:cs typeface="Segoe UI" panose="020B0502040204020203" pitchFamily="34" charset="0"/>
              </a:rPr>
            </a:br>
            <a:r>
              <a:rPr lang="en-US" sz="1400" dirty="0">
                <a:latin typeface="Segoe UI" panose="020B0502040204020203" pitchFamily="34" charset="0"/>
                <a:cs typeface="Segoe UI" panose="020B0502040204020203" pitchFamily="34" charset="0"/>
              </a:rPr>
              <a:t>In order to predict the stock price, the following technical indicators are added to the dataset for precise accuracy.</a:t>
            </a:r>
          </a:p>
          <a:p>
            <a:pPr indent="-228600">
              <a:lnSpc>
                <a:spcPct val="90000"/>
              </a:lnSpc>
              <a:spcAft>
                <a:spcPts val="600"/>
              </a:spcAft>
              <a:buFont typeface="Arial" panose="020B0604020202020204" pitchFamily="34" charset="0"/>
              <a:buChar char="•"/>
            </a:pPr>
            <a:endParaRPr lang="en-US" sz="1400" dirty="0">
              <a:latin typeface="Segoe UI" panose="020B0502040204020203" pitchFamily="34" charset="0"/>
              <a:cs typeface="Segoe UI" panose="020B0502040204020203" pitchFamily="34" charset="0"/>
            </a:endParaRPr>
          </a:p>
          <a:p>
            <a:pPr marL="342900" indent="-228600">
              <a:lnSpc>
                <a:spcPct val="90000"/>
              </a:lnSpc>
              <a:spcAft>
                <a:spcPts val="600"/>
              </a:spcAft>
              <a:buFont typeface="Arial" panose="020B0604020202020204" pitchFamily="34" charset="0"/>
              <a:buChar char="•"/>
            </a:pPr>
            <a:r>
              <a:rPr lang="en-US" sz="1400" dirty="0">
                <a:latin typeface="Segoe UI" panose="020B0502040204020203" pitchFamily="34" charset="0"/>
                <a:cs typeface="Segoe UI" panose="020B0502040204020203" pitchFamily="34" charset="0"/>
              </a:rPr>
              <a:t>EMA ( Exponential Moving Average)</a:t>
            </a:r>
          </a:p>
          <a:p>
            <a:pPr marL="342900" indent="-228600">
              <a:lnSpc>
                <a:spcPct val="90000"/>
              </a:lnSpc>
              <a:spcAft>
                <a:spcPts val="600"/>
              </a:spcAft>
              <a:buFont typeface="Arial" panose="020B0604020202020204" pitchFamily="34" charset="0"/>
              <a:buChar char="•"/>
            </a:pPr>
            <a:r>
              <a:rPr lang="en-US" sz="1400" dirty="0">
                <a:latin typeface="Segoe UI" panose="020B0502040204020203" pitchFamily="34" charset="0"/>
                <a:cs typeface="Segoe UI" panose="020B0502040204020203" pitchFamily="34" charset="0"/>
              </a:rPr>
              <a:t>RSI ( Relative Strength Index)</a:t>
            </a:r>
          </a:p>
          <a:p>
            <a:pPr marL="342900" indent="-228600">
              <a:lnSpc>
                <a:spcPct val="90000"/>
              </a:lnSpc>
              <a:spcAft>
                <a:spcPts val="600"/>
              </a:spcAft>
              <a:buFont typeface="Arial" panose="020B0604020202020204" pitchFamily="34" charset="0"/>
              <a:buChar char="•"/>
            </a:pPr>
            <a:r>
              <a:rPr lang="en-US" sz="1400" dirty="0">
                <a:latin typeface="Segoe UI" panose="020B0502040204020203" pitchFamily="34" charset="0"/>
                <a:cs typeface="Segoe UI" panose="020B0502040204020203" pitchFamily="34" charset="0"/>
              </a:rPr>
              <a:t>Bollinger Bands (Upper &amp; Lower)</a:t>
            </a:r>
          </a:p>
          <a:p>
            <a:pPr marL="342900" indent="-228600">
              <a:lnSpc>
                <a:spcPct val="90000"/>
              </a:lnSpc>
              <a:spcAft>
                <a:spcPts val="600"/>
              </a:spcAft>
              <a:buFont typeface="Arial" panose="020B0604020202020204" pitchFamily="34" charset="0"/>
              <a:buChar char="•"/>
            </a:pPr>
            <a:r>
              <a:rPr lang="en-US" sz="1400" dirty="0">
                <a:latin typeface="Segoe UI" panose="020B0502040204020203" pitchFamily="34" charset="0"/>
                <a:cs typeface="Segoe UI" panose="020B0502040204020203" pitchFamily="34" charset="0"/>
              </a:rPr>
              <a:t>OBV (On-Balance Volume)</a:t>
            </a:r>
          </a:p>
          <a:p>
            <a:pPr marL="342900" indent="-228600">
              <a:lnSpc>
                <a:spcPct val="90000"/>
              </a:lnSpc>
              <a:spcAft>
                <a:spcPts val="600"/>
              </a:spcAft>
              <a:buFont typeface="Arial" panose="020B0604020202020204" pitchFamily="34" charset="0"/>
              <a:buChar char="•"/>
            </a:pPr>
            <a:endParaRPr lang="en-US" sz="1400" dirty="0">
              <a:latin typeface="Segoe UI" panose="020B0502040204020203" pitchFamily="34" charset="0"/>
              <a:cs typeface="Segoe UI" panose="020B0502040204020203" pitchFamily="34" charset="0"/>
            </a:endParaRPr>
          </a:p>
          <a:p>
            <a:pPr indent="-228600">
              <a:lnSpc>
                <a:spcPct val="90000"/>
              </a:lnSpc>
              <a:spcAft>
                <a:spcPts val="600"/>
              </a:spcAft>
              <a:buFont typeface="Arial" panose="020B0604020202020204" pitchFamily="34" charset="0"/>
              <a:buChar char="•"/>
            </a:pPr>
            <a:r>
              <a:rPr lang="en-US" sz="1400" b="1" dirty="0">
                <a:latin typeface="Segoe UI" panose="020B0502040204020203" pitchFamily="34" charset="0"/>
                <a:cs typeface="Segoe UI" panose="020B0502040204020203" pitchFamily="34" charset="0"/>
              </a:rPr>
              <a:t>Pipeline</a:t>
            </a:r>
            <a:r>
              <a:rPr lang="en-US" sz="1400" dirty="0">
                <a:latin typeface="Segoe UI" panose="020B0502040204020203" pitchFamily="34" charset="0"/>
                <a:cs typeface="Segoe UI" panose="020B0502040204020203" pitchFamily="34" charset="0"/>
              </a:rPr>
              <a:t> method is used to protect data leakage during machine learning processing together with </a:t>
            </a:r>
            <a:r>
              <a:rPr lang="en-US" sz="1400" b="1" dirty="0" err="1">
                <a:latin typeface="Segoe UI" panose="020B0502040204020203" pitchFamily="34" charset="0"/>
                <a:cs typeface="Segoe UI" panose="020B0502040204020203" pitchFamily="34" charset="0"/>
              </a:rPr>
              <a:t>StandardScale</a:t>
            </a:r>
            <a:r>
              <a:rPr lang="en-US" sz="1400" b="1" dirty="0">
                <a:latin typeface="Segoe UI" panose="020B0502040204020203" pitchFamily="34" charset="0"/>
                <a:cs typeface="Segoe UI" panose="020B0502040204020203" pitchFamily="34" charset="0"/>
              </a:rPr>
              <a:t>( ) </a:t>
            </a:r>
            <a:r>
              <a:rPr lang="en-US" sz="1400" dirty="0">
                <a:latin typeface="Segoe UI" panose="020B0502040204020203" pitchFamily="34" charset="0"/>
                <a:cs typeface="Segoe UI" panose="020B0502040204020203" pitchFamily="34" charset="0"/>
              </a:rPr>
              <a:t>for standardizing.</a:t>
            </a:r>
          </a:p>
        </p:txBody>
      </p:sp>
      <p:pic>
        <p:nvPicPr>
          <p:cNvPr id="6" name="Content Placeholder 5" descr="A computer screen with white text&#10;&#10;AI-generated content may be incorrect.">
            <a:extLst>
              <a:ext uri="{FF2B5EF4-FFF2-40B4-BE49-F238E27FC236}">
                <a16:creationId xmlns:a16="http://schemas.microsoft.com/office/drawing/2014/main" id="{EFE50ECD-DC36-573C-035A-CC0D675F2DA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r="35073"/>
          <a:stretch/>
        </p:blipFill>
        <p:spPr>
          <a:xfrm>
            <a:off x="6800986" y="2337212"/>
            <a:ext cx="4747547" cy="2211919"/>
          </a:xfrm>
          <a:prstGeom prst="rect">
            <a:avLst/>
          </a:prstGeom>
        </p:spPr>
      </p:pic>
    </p:spTree>
    <p:extLst>
      <p:ext uri="{BB962C8B-B14F-4D97-AF65-F5344CB8AC3E}">
        <p14:creationId xmlns:p14="http://schemas.microsoft.com/office/powerpoint/2010/main" val="762818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21EC7-A883-3D4F-E4A1-117C5EDB4D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0E4372-0144-0953-6BD5-F20EE9F62CA4}"/>
              </a:ext>
            </a:extLst>
          </p:cNvPr>
          <p:cNvSpPr>
            <a:spLocks noGrp="1"/>
          </p:cNvSpPr>
          <p:nvPr>
            <p:ph type="title"/>
          </p:nvPr>
        </p:nvSpPr>
        <p:spPr>
          <a:xfrm>
            <a:off x="838200" y="365125"/>
            <a:ext cx="10515600" cy="1139825"/>
          </a:xfrm>
        </p:spPr>
        <p:txBody>
          <a:bodyPr>
            <a:normAutofit fontScale="90000"/>
          </a:bodyPr>
          <a:lstStyle/>
          <a:p>
            <a:r>
              <a:rPr lang="en-CA" b="1" dirty="0"/>
              <a:t>Assignment -1 : Part -3 (Visual Dashboard of Benchmarking)</a:t>
            </a:r>
          </a:p>
        </p:txBody>
      </p:sp>
      <p:sp>
        <p:nvSpPr>
          <p:cNvPr id="17" name="TextBox 16">
            <a:extLst>
              <a:ext uri="{FF2B5EF4-FFF2-40B4-BE49-F238E27FC236}">
                <a16:creationId xmlns:a16="http://schemas.microsoft.com/office/drawing/2014/main" id="{20766240-061A-FBE6-345F-50CB70383A76}"/>
              </a:ext>
            </a:extLst>
          </p:cNvPr>
          <p:cNvSpPr txBox="1"/>
          <p:nvPr/>
        </p:nvSpPr>
        <p:spPr>
          <a:xfrm>
            <a:off x="6499365" y="1504950"/>
            <a:ext cx="4539029" cy="2308324"/>
          </a:xfrm>
          <a:prstGeom prst="rect">
            <a:avLst/>
          </a:prstGeom>
          <a:noFill/>
        </p:spPr>
        <p:txBody>
          <a:bodyPr wrap="square" rtlCol="0">
            <a:spAutoFit/>
          </a:bodyPr>
          <a:lstStyle/>
          <a:p>
            <a:r>
              <a:rPr lang="en-CA" b="1" dirty="0">
                <a:latin typeface="Segoe UI" panose="020B0502040204020203" pitchFamily="34" charset="0"/>
                <a:cs typeface="Segoe UI" panose="020B0502040204020203" pitchFamily="34" charset="0"/>
              </a:rPr>
              <a:t>Dashboard By </a:t>
            </a:r>
            <a:r>
              <a:rPr lang="en-CA" b="1" dirty="0" err="1">
                <a:latin typeface="Segoe UI" panose="020B0502040204020203" pitchFamily="34" charset="0"/>
                <a:cs typeface="Segoe UI" panose="020B0502040204020203" pitchFamily="34" charset="0"/>
              </a:rPr>
              <a:t>Streamlit</a:t>
            </a:r>
            <a:endParaRPr lang="en-CA" b="1" dirty="0">
              <a:latin typeface="Segoe UI" panose="020B0502040204020203" pitchFamily="34" charset="0"/>
              <a:cs typeface="Segoe UI" panose="020B0502040204020203" pitchFamily="34" charset="0"/>
            </a:endParaRPr>
          </a:p>
          <a:p>
            <a:endParaRPr lang="en-CA" b="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CA" dirty="0">
                <a:latin typeface="Segoe UI" panose="020B0502040204020203" pitchFamily="34" charset="0"/>
                <a:cs typeface="Segoe UI" panose="020B0502040204020203" pitchFamily="34" charset="0"/>
              </a:rPr>
              <a:t>Suitable for Beginner and easy configuration due to its simplicity and low code requirement.</a:t>
            </a:r>
          </a:p>
          <a:p>
            <a:pPr marL="285750" indent="-285750">
              <a:buFont typeface="Arial" panose="020B0604020202020204" pitchFamily="34" charset="0"/>
              <a:buChar char="•"/>
            </a:pPr>
            <a:r>
              <a:rPr lang="en-CA" dirty="0">
                <a:latin typeface="Segoe UI" panose="020B0502040204020203" pitchFamily="34" charset="0"/>
                <a:cs typeface="Segoe UI" panose="020B0502040204020203" pitchFamily="34" charset="0"/>
              </a:rPr>
              <a:t> It’s popular features as “Sidebars” is used in this dashboard.</a:t>
            </a:r>
          </a:p>
          <a:p>
            <a:pPr marL="285750" indent="-285750">
              <a:buFont typeface="Arial" panose="020B0604020202020204" pitchFamily="34" charset="0"/>
              <a:buChar char="•"/>
            </a:pPr>
            <a:endParaRPr lang="en-CA" dirty="0">
              <a:latin typeface="Segoe UI" panose="020B0502040204020203" pitchFamily="34" charset="0"/>
              <a:cs typeface="Segoe UI" panose="020B0502040204020203" pitchFamily="34" charset="0"/>
            </a:endParaRPr>
          </a:p>
        </p:txBody>
      </p:sp>
      <p:pic>
        <p:nvPicPr>
          <p:cNvPr id="9" name="Picture 8" descr="A screen shot of a graph&#10;&#10;AI-generated content may be incorrect.">
            <a:extLst>
              <a:ext uri="{FF2B5EF4-FFF2-40B4-BE49-F238E27FC236}">
                <a16:creationId xmlns:a16="http://schemas.microsoft.com/office/drawing/2014/main" id="{93E41DA4-8B96-2B6B-C486-2DFCAD1B9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3606" y="1491498"/>
            <a:ext cx="3695700" cy="2335228"/>
          </a:xfrm>
          <a:prstGeom prst="rect">
            <a:avLst/>
          </a:prstGeom>
        </p:spPr>
      </p:pic>
      <p:sp>
        <p:nvSpPr>
          <p:cNvPr id="15" name="TextBox 14">
            <a:extLst>
              <a:ext uri="{FF2B5EF4-FFF2-40B4-BE49-F238E27FC236}">
                <a16:creationId xmlns:a16="http://schemas.microsoft.com/office/drawing/2014/main" id="{37D1BA6F-8EFB-4F20-23FC-8B3C09238467}"/>
              </a:ext>
            </a:extLst>
          </p:cNvPr>
          <p:cNvSpPr txBox="1"/>
          <p:nvPr/>
        </p:nvSpPr>
        <p:spPr>
          <a:xfrm>
            <a:off x="6499364" y="4184551"/>
            <a:ext cx="4539029" cy="1754326"/>
          </a:xfrm>
          <a:prstGeom prst="rect">
            <a:avLst/>
          </a:prstGeom>
          <a:noFill/>
        </p:spPr>
        <p:txBody>
          <a:bodyPr wrap="square" rtlCol="0">
            <a:spAutoFit/>
          </a:bodyPr>
          <a:lstStyle/>
          <a:p>
            <a:r>
              <a:rPr lang="en-CA" b="1" dirty="0">
                <a:latin typeface="Segoe UI" panose="020B0502040204020203" pitchFamily="34" charset="0"/>
                <a:cs typeface="Segoe UI" panose="020B0502040204020203" pitchFamily="34" charset="0"/>
              </a:rPr>
              <a:t>Dashboard By </a:t>
            </a:r>
            <a:r>
              <a:rPr lang="en-CA" b="1" dirty="0" err="1">
                <a:latin typeface="Segoe UI" panose="020B0502040204020203" pitchFamily="34" charset="0"/>
                <a:cs typeface="Segoe UI" panose="020B0502040204020203" pitchFamily="34" charset="0"/>
              </a:rPr>
              <a:t>Plotly</a:t>
            </a:r>
            <a:r>
              <a:rPr lang="en-CA" b="1" dirty="0">
                <a:latin typeface="Segoe UI" panose="020B0502040204020203" pitchFamily="34" charset="0"/>
                <a:cs typeface="Segoe UI" panose="020B0502040204020203" pitchFamily="34" charset="0"/>
              </a:rPr>
              <a:t> Dash</a:t>
            </a:r>
          </a:p>
          <a:p>
            <a:endParaRPr lang="en-CA" b="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CA" dirty="0">
                <a:latin typeface="Segoe UI" panose="020B0502040204020203" pitchFamily="34" charset="0"/>
                <a:cs typeface="Segoe UI" panose="020B0502040204020203" pitchFamily="34" charset="0"/>
              </a:rPr>
              <a:t>Plotly.js is extremely useful for built-in support. It support a wide range of interactive chats and customizable with CSS.</a:t>
            </a:r>
          </a:p>
        </p:txBody>
      </p:sp>
      <p:pic>
        <p:nvPicPr>
          <p:cNvPr id="18" name="Picture 17" descr="A screenshot of a graph&#10;&#10;AI-generated content may be incorrect.">
            <a:extLst>
              <a:ext uri="{FF2B5EF4-FFF2-40B4-BE49-F238E27FC236}">
                <a16:creationId xmlns:a16="http://schemas.microsoft.com/office/drawing/2014/main" id="{99CB19BE-7712-45E1-D153-1C561CC47B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850" y="4212113"/>
            <a:ext cx="4849306" cy="2308778"/>
          </a:xfrm>
          <a:prstGeom prst="rect">
            <a:avLst/>
          </a:prstGeom>
        </p:spPr>
      </p:pic>
    </p:spTree>
    <p:extLst>
      <p:ext uri="{BB962C8B-B14F-4D97-AF65-F5344CB8AC3E}">
        <p14:creationId xmlns:p14="http://schemas.microsoft.com/office/powerpoint/2010/main" val="3663422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717EF6-BCE4-C247-22CB-334842A04412}"/>
            </a:ext>
          </a:extLst>
        </p:cNvPr>
        <p:cNvGrpSpPr/>
        <p:nvPr/>
      </p:nvGrpSpPr>
      <p:grpSpPr>
        <a:xfrm>
          <a:off x="0" y="0"/>
          <a:ext cx="0" cy="0"/>
          <a:chOff x="0" y="0"/>
          <a:chExt cx="0" cy="0"/>
        </a:xfrm>
      </p:grpSpPr>
      <p:sp>
        <p:nvSpPr>
          <p:cNvPr id="31" name="Freeform: Shape 30">
            <a:extLst>
              <a:ext uri="{FF2B5EF4-FFF2-40B4-BE49-F238E27FC236}">
                <a16:creationId xmlns:a16="http://schemas.microsoft.com/office/drawing/2014/main" id="{13B7BB51-92B8-4089-8DAB-1202A4D1C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15111"/>
            <a:ext cx="3021543" cy="1435442"/>
          </a:xfrm>
          <a:custGeom>
            <a:avLst/>
            <a:gdLst/>
            <a:ahLst/>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useBgFill="1">
        <p:nvSpPr>
          <p:cNvPr id="33" name="Rectangle 32">
            <a:extLst>
              <a:ext uri="{FF2B5EF4-FFF2-40B4-BE49-F238E27FC236}">
                <a16:creationId xmlns:a16="http://schemas.microsoft.com/office/drawing/2014/main" id="{F35DB090-93B5-4581-8D71-BB3839684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9619"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8FD2359B-9FAC-DDD8-0E67-97201D1A377B}"/>
              </a:ext>
            </a:extLst>
          </p:cNvPr>
          <p:cNvSpPr>
            <a:spLocks noGrp="1"/>
          </p:cNvSpPr>
          <p:nvPr>
            <p:ph type="title"/>
          </p:nvPr>
        </p:nvSpPr>
        <p:spPr>
          <a:xfrm>
            <a:off x="472433" y="543377"/>
            <a:ext cx="3888526" cy="1800526"/>
          </a:xfrm>
        </p:spPr>
        <p:txBody>
          <a:bodyPr vert="horz" lIns="91440" tIns="45720" rIns="91440" bIns="45720" rtlCol="0" anchor="ctr">
            <a:normAutofit/>
          </a:bodyPr>
          <a:lstStyle/>
          <a:p>
            <a:r>
              <a:rPr lang="en-US" sz="3100" b="1" i="1" dirty="0"/>
              <a:t>Assignment -1 : Part -3 (Visual Dashboard of Stock Prediction)</a:t>
            </a:r>
          </a:p>
        </p:txBody>
      </p:sp>
      <p:sp>
        <p:nvSpPr>
          <p:cNvPr id="17" name="TextBox 16">
            <a:extLst>
              <a:ext uri="{FF2B5EF4-FFF2-40B4-BE49-F238E27FC236}">
                <a16:creationId xmlns:a16="http://schemas.microsoft.com/office/drawing/2014/main" id="{29D167F3-8C62-50A8-8A5B-F3AFD1D06DD8}"/>
              </a:ext>
            </a:extLst>
          </p:cNvPr>
          <p:cNvSpPr txBox="1"/>
          <p:nvPr/>
        </p:nvSpPr>
        <p:spPr>
          <a:xfrm>
            <a:off x="472433" y="2637217"/>
            <a:ext cx="3528067" cy="3553581"/>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b="1" dirty="0"/>
              <a:t>Stock Price Prediction</a:t>
            </a:r>
            <a:br>
              <a:rPr lang="en-US" sz="1400" dirty="0"/>
            </a:br>
            <a:br>
              <a:rPr lang="en-US" sz="1400" dirty="0"/>
            </a:br>
            <a:r>
              <a:rPr lang="en-US" sz="1400" dirty="0"/>
              <a:t>Including Actual stock price, both prediction of Linear Regression and Random Forest Regressor predictions are shown inside both graph and table.</a:t>
            </a:r>
          </a:p>
        </p:txBody>
      </p:sp>
      <p:pic>
        <p:nvPicPr>
          <p:cNvPr id="11" name="Picture 10" descr="A screen shot of a graph&#10;&#10;AI-generated content may be incorrect.">
            <a:extLst>
              <a:ext uri="{FF2B5EF4-FFF2-40B4-BE49-F238E27FC236}">
                <a16:creationId xmlns:a16="http://schemas.microsoft.com/office/drawing/2014/main" id="{B559AEBC-6A99-A44D-2A55-92420B5DE4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8145" y="166553"/>
            <a:ext cx="6881935" cy="3168000"/>
          </a:xfrm>
          <a:prstGeom prst="rect">
            <a:avLst/>
          </a:prstGeom>
        </p:spPr>
      </p:pic>
      <p:pic>
        <p:nvPicPr>
          <p:cNvPr id="7" name="Content Placeholder 6" descr="A screen shot of a computer&#10;&#10;AI-generated content may be incorrect.">
            <a:extLst>
              <a:ext uri="{FF2B5EF4-FFF2-40B4-BE49-F238E27FC236}">
                <a16:creationId xmlns:a16="http://schemas.microsoft.com/office/drawing/2014/main" id="{AA48DA62-C66C-609C-A5A0-81D9EC6CF4E6}"/>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4693123" y="3501106"/>
            <a:ext cx="6886957" cy="3168000"/>
          </a:xfrm>
          <a:prstGeom prst="rect">
            <a:avLst/>
          </a:prstGeom>
        </p:spPr>
      </p:pic>
    </p:spTree>
    <p:extLst>
      <p:ext uri="{BB962C8B-B14F-4D97-AF65-F5344CB8AC3E}">
        <p14:creationId xmlns:p14="http://schemas.microsoft.com/office/powerpoint/2010/main" val="4130684950"/>
      </p:ext>
    </p:extLst>
  </p:cSld>
  <p:clrMapOvr>
    <a:masterClrMapping/>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581</Words>
  <Application>Microsoft Office PowerPoint</Application>
  <PresentationFormat>Widescreen</PresentationFormat>
  <Paragraphs>110</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Century Gothic</vt:lpstr>
      <vt:lpstr>Segoe UI</vt:lpstr>
      <vt:lpstr>BrushVTI</vt:lpstr>
      <vt:lpstr>CSIS-4260 Assignment - 1</vt:lpstr>
      <vt:lpstr>Abstract of Assignment -1(Storing &amp; Retrieving) </vt:lpstr>
      <vt:lpstr>Assignment -1 : Part -1 </vt:lpstr>
      <vt:lpstr>Assignment -1 : Part -2 (Analysis and Machine learning)</vt:lpstr>
      <vt:lpstr>Assignment -1 : Part -3 (Visual Dashboard of Benchmarking)</vt:lpstr>
      <vt:lpstr>Assignment -1 : Part -3 (Visual Dashboard of Stock Prediction)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 Pyae Phyo Thaw, '</dc:creator>
  <cp:lastModifiedBy>May Pyae Phyo Thaw, '</cp:lastModifiedBy>
  <cp:revision>1</cp:revision>
  <dcterms:created xsi:type="dcterms:W3CDTF">2025-03-09T04:27:41Z</dcterms:created>
  <dcterms:modified xsi:type="dcterms:W3CDTF">2025-03-09T06:16:05Z</dcterms:modified>
</cp:coreProperties>
</file>